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2" r:id="rId2"/>
    <p:sldId id="273" r:id="rId3"/>
    <p:sldId id="257" r:id="rId4"/>
    <p:sldId id="258" r:id="rId5"/>
    <p:sldId id="278" r:id="rId6"/>
    <p:sldId id="269" r:id="rId7"/>
    <p:sldId id="260" r:id="rId8"/>
    <p:sldId id="282" r:id="rId9"/>
    <p:sldId id="274" r:id="rId10"/>
    <p:sldId id="275" r:id="rId11"/>
    <p:sldId id="276" r:id="rId12"/>
    <p:sldId id="293" r:id="rId13"/>
    <p:sldId id="294" r:id="rId14"/>
    <p:sldId id="295" r:id="rId15"/>
    <p:sldId id="296" r:id="rId16"/>
    <p:sldId id="297" r:id="rId17"/>
    <p:sldId id="298" r:id="rId18"/>
    <p:sldId id="299" r:id="rId19"/>
    <p:sldId id="300" r:id="rId20"/>
    <p:sldId id="301" r:id="rId21"/>
    <p:sldId id="281" r:id="rId22"/>
    <p:sldId id="268" r:id="rId23"/>
  </p:sldIdLst>
  <p:sldSz cx="12192000" cy="6858000"/>
  <p:notesSz cx="12192000" cy="6858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24"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howGuides="1">
      <p:cViewPr varScale="1">
        <p:scale>
          <a:sx n="75" d="100"/>
          <a:sy n="75" d="100"/>
        </p:scale>
        <p:origin x="739" y="43"/>
      </p:cViewPr>
      <p:guideLst>
        <p:guide orient="horz" pos="2924"/>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889" y="2514601"/>
            <a:ext cx="880060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889" y="4777381"/>
            <a:ext cx="880060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IN"/>
          </a:p>
        </p:txBody>
      </p:sp>
      <p:sp>
        <p:nvSpPr>
          <p:cNvPr id="9" name="Freeform 8"/>
          <p:cNvSpPr/>
          <p:nvPr/>
        </p:nvSpPr>
        <p:spPr bwMode="auto">
          <a:xfrm>
            <a:off x="-42292" y="4321159"/>
            <a:ext cx="1860631"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564445" y="4529542"/>
            <a:ext cx="779971" cy="365125"/>
          </a:xfrm>
        </p:spPr>
        <p:txBody>
          <a:bodyPr/>
          <a:lstStyle/>
          <a:p>
            <a:fld id="{B6F15528-21DE-4FAA-801E-634DDDAF4B2B}"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3602" y="624110"/>
            <a:ext cx="87855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888" y="2133600"/>
            <a:ext cx="8789313"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888" y="2074562"/>
            <a:ext cx="8789313"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3581400"/>
            <a:ext cx="8789313"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B6F15528-21DE-4FAA-801E-634DDDAF4B2B}"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889" y="2136707"/>
            <a:ext cx="4263375"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16410" y="2136707"/>
            <a:ext cx="426279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681637" y="787784"/>
            <a:ext cx="779971" cy="365125"/>
          </a:xfrm>
        </p:spPr>
        <p:txBody>
          <a:bodyPr/>
          <a:lstStyle/>
          <a:p>
            <a:fld id="{B6F15528-21DE-4FAA-801E-634DDDAF4B2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020469" y="2226626"/>
            <a:ext cx="383279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887" y="2802889"/>
            <a:ext cx="4263376"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1540" y="2223398"/>
            <a:ext cx="383098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11620" y="2799661"/>
            <a:ext cx="4260907"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IN"/>
          </a:p>
        </p:txBody>
      </p:sp>
      <p:sp>
        <p:nvSpPr>
          <p:cNvPr id="11"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681637" y="787784"/>
            <a:ext cx="779971" cy="365125"/>
          </a:xfrm>
        </p:spPr>
        <p:txBody>
          <a:bodyPr/>
          <a:lstStyle/>
          <a:p>
            <a:fld id="{B6F15528-21DE-4FAA-801E-634DDDAF4B2B}"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93600" y="624110"/>
            <a:ext cx="87856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IN"/>
          </a:p>
        </p:txBody>
      </p:sp>
      <p:sp>
        <p:nvSpPr>
          <p:cNvPr id="8"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7" y="446088"/>
            <a:ext cx="3506112"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4659" y="446090"/>
            <a:ext cx="5054541"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887" y="1598613"/>
            <a:ext cx="3506112"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8" y="4800600"/>
            <a:ext cx="8789313"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888" y="634965"/>
            <a:ext cx="8789313"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888" y="5367338"/>
            <a:ext cx="8789313"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B6F15528-21DE-4FAA-801E-634DDDAF4B2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8" y="609600"/>
            <a:ext cx="8789313"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B6F15528-21DE-4FAA-801E-634DDDAF4B2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21296" y="3505200"/>
            <a:ext cx="7538517"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IN"/>
          </a:p>
        </p:txBody>
      </p:sp>
      <p:sp>
        <p:nvSpPr>
          <p:cNvPr id="19"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B6F15528-21DE-4FAA-801E-634DDDAF4B2B}" type="slidenum">
              <a:rPr lang="en-IN" smtClean="0"/>
              <a:t>‹#›</a:t>
            </a:fld>
            <a:endParaRPr lang="en-IN"/>
          </a:p>
        </p:txBody>
      </p:sp>
      <p:sp>
        <p:nvSpPr>
          <p:cNvPr id="14" name="TextBox 13"/>
          <p:cNvSpPr txBox="1"/>
          <p:nvPr/>
        </p:nvSpPr>
        <p:spPr>
          <a:xfrm>
            <a:off x="2411089" y="648005"/>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5" name="TextBox 14"/>
          <p:cNvSpPr txBox="1"/>
          <p:nvPr/>
        </p:nvSpPr>
        <p:spPr>
          <a:xfrm>
            <a:off x="10892711" y="2905306"/>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888" y="2438402"/>
            <a:ext cx="8789313"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888"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B6F15528-21DE-4FAA-801E-634DDDAF4B2B}"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887" y="4343400"/>
            <a:ext cx="891772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7" y="5181600"/>
            <a:ext cx="891772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IN"/>
          </a:p>
        </p:txBody>
      </p:sp>
      <p:sp>
        <p:nvSpPr>
          <p:cNvPr id="2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B6F15528-21DE-4FAA-801E-634DDDAF4B2B}" type="slidenum">
              <a:rPr lang="en-IN" smtClean="0"/>
              <a:t>‹#›</a:t>
            </a:fld>
            <a:endParaRPr lang="en-IN"/>
          </a:p>
        </p:txBody>
      </p:sp>
      <p:sp>
        <p:nvSpPr>
          <p:cNvPr id="11" name="TextBox 10"/>
          <p:cNvSpPr txBox="1"/>
          <p:nvPr/>
        </p:nvSpPr>
        <p:spPr>
          <a:xfrm>
            <a:off x="2411089" y="648005"/>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2" name="TextBox 11"/>
          <p:cNvSpPr txBox="1"/>
          <p:nvPr/>
        </p:nvSpPr>
        <p:spPr>
          <a:xfrm>
            <a:off x="10892711" y="2905306"/>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888" y="627407"/>
            <a:ext cx="8789312"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888" y="4343400"/>
            <a:ext cx="878931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8"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B6F15528-21DE-4FAA-801E-634DDDAF4B2B}"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71380" y="627407"/>
            <a:ext cx="2208176"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888" y="627407"/>
            <a:ext cx="6288464"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26416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7228" y="285"/>
            <a:ext cx="2603029"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24384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3600" y="624110"/>
            <a:ext cx="87856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888" y="2133600"/>
            <a:ext cx="8789313"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3200" y="6135090"/>
            <a:ext cx="102184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3/31/2026</a:t>
            </a:fld>
            <a:endParaRPr lang="en-US"/>
          </a:p>
        </p:txBody>
      </p:sp>
      <p:sp>
        <p:nvSpPr>
          <p:cNvPr id="5" name="Footer Placeholder 4"/>
          <p:cNvSpPr>
            <a:spLocks noGrp="1"/>
          </p:cNvSpPr>
          <p:nvPr>
            <p:ph type="ftr" sz="quarter" idx="3"/>
          </p:nvPr>
        </p:nvSpPr>
        <p:spPr>
          <a:xfrm>
            <a:off x="2589887" y="6135810"/>
            <a:ext cx="762198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681637" y="787784"/>
            <a:ext cx="779971" cy="365125"/>
          </a:xfrm>
          <a:prstGeom prst="rect">
            <a:avLst/>
          </a:prstGeom>
        </p:spPr>
        <p:txBody>
          <a:bodyPr vert="horz" lIns="91440" tIns="45720" rIns="91440" bIns="45720" rtlCol="0" anchor="ctr"/>
          <a:lstStyle>
            <a:lvl1pPr algn="r">
              <a:defRPr sz="2000">
                <a:solidFill>
                  <a:srgbClr val="FEFFFF"/>
                </a:solidFill>
              </a:defRPr>
            </a:lvl1pPr>
          </a:lstStyle>
          <a:p>
            <a:fld id="{B6F15528-21DE-4FAA-801E-634DDDAF4B2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257800" y="2136073"/>
            <a:ext cx="1200150" cy="911927"/>
          </a:xfrm>
          <a:prstGeom prst="rect">
            <a:avLst/>
          </a:prstGeom>
        </p:spPr>
      </p:pic>
      <p:sp>
        <p:nvSpPr>
          <p:cNvPr id="6" name="Title 1"/>
          <p:cNvSpPr txBox="1"/>
          <p:nvPr/>
        </p:nvSpPr>
        <p:spPr>
          <a:xfrm>
            <a:off x="1066800" y="1242536"/>
            <a:ext cx="10287000" cy="738664"/>
          </a:xfrm>
          <a:prstGeom prst="rect">
            <a:avLst/>
          </a:prstGeom>
        </p:spPr>
        <p:txBody>
          <a:bodyPr wrap="square" lIns="0" tIns="0" rIns="0" bIns="0" anchor="ctr">
            <a:spAutoFit/>
          </a:bodyPr>
          <a:lstStyle>
            <a:lvl1pPr>
              <a:defRPr sz="3600" b="1" i="0">
                <a:solidFill>
                  <a:srgbClr val="ED466D"/>
                </a:solidFill>
                <a:latin typeface="Verdana" panose="020B0604030504040204"/>
                <a:ea typeface="+mj-ea"/>
                <a:cs typeface="Verdana" panose="020B0604030504040204"/>
              </a:defRPr>
            </a:lvl1pPr>
          </a:lstStyle>
          <a:p>
            <a:r>
              <a:rPr lang="en-IN" sz="2800" dirty="0"/>
              <a:t>TEEGALA KRISHNA REDDY ENGINEERING COLLEGE</a:t>
            </a:r>
          </a:p>
          <a:p>
            <a:r>
              <a:rPr lang="en-IN" sz="2000" dirty="0">
                <a:solidFill>
                  <a:schemeClr val="accent4">
                    <a:lumMod val="75000"/>
                  </a:schemeClr>
                </a:solidFill>
                <a:latin typeface="Times New Roman" panose="02020603050405020304" pitchFamily="18" charset="0"/>
                <a:cs typeface="Times New Roman" panose="02020603050405020304" pitchFamily="18" charset="0"/>
              </a:rPr>
              <a:t>         (Approved By </a:t>
            </a:r>
            <a:r>
              <a:rPr lang="en-IN" sz="2000" dirty="0">
                <a:solidFill>
                  <a:schemeClr val="tx1">
                    <a:lumMod val="75000"/>
                    <a:lumOff val="25000"/>
                  </a:schemeClr>
                </a:solidFill>
                <a:latin typeface="Times New Roman" panose="02020603050405020304" pitchFamily="18" charset="0"/>
                <a:cs typeface="Times New Roman" panose="02020603050405020304" pitchFamily="18" charset="0"/>
              </a:rPr>
              <a:t>AICTE</a:t>
            </a:r>
            <a:r>
              <a:rPr lang="en-IN" sz="2000" dirty="0">
                <a:solidFill>
                  <a:schemeClr val="accent4">
                    <a:lumMod val="75000"/>
                  </a:schemeClr>
                </a:solidFill>
                <a:latin typeface="Times New Roman" panose="02020603050405020304" pitchFamily="18" charset="0"/>
                <a:cs typeface="Times New Roman" panose="02020603050405020304" pitchFamily="18" charset="0"/>
              </a:rPr>
              <a:t> , Affiliated To JNTUH, Accredited By NBA And NAAC)</a:t>
            </a:r>
            <a:endParaRPr lang="en-IN" sz="2000" dirty="0"/>
          </a:p>
        </p:txBody>
      </p:sp>
      <p:sp>
        <p:nvSpPr>
          <p:cNvPr id="7" name="Subtitle 2"/>
          <p:cNvSpPr txBox="1"/>
          <p:nvPr/>
        </p:nvSpPr>
        <p:spPr>
          <a:xfrm>
            <a:off x="609600" y="3068891"/>
            <a:ext cx="10398442" cy="66490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IN" sz="2400" dirty="0"/>
              <a:t>	          DEPARTMENT OF COMPUTER SCIENCE &amp; ENGINEERING</a:t>
            </a:r>
          </a:p>
        </p:txBody>
      </p:sp>
      <p:sp>
        <p:nvSpPr>
          <p:cNvPr id="8" name="TextBox 7"/>
          <p:cNvSpPr txBox="1"/>
          <p:nvPr/>
        </p:nvSpPr>
        <p:spPr>
          <a:xfrm>
            <a:off x="1066800" y="4121129"/>
            <a:ext cx="3751421" cy="1289071"/>
          </a:xfrm>
          <a:prstGeom prst="rect">
            <a:avLst/>
          </a:prstGeom>
          <a:noFill/>
        </p:spPr>
        <p:txBody>
          <a:bodyPr wrap="square" rtlCol="0">
            <a:spAutoFit/>
          </a:bodyPr>
          <a:lstStyle/>
          <a:p>
            <a:pPr algn="just">
              <a:lnSpc>
                <a:spcPct val="150000"/>
              </a:lnSpc>
            </a:pPr>
            <a:r>
              <a:rPr lang="en-IN" b="1" u="sng" dirty="0">
                <a:latin typeface="Book Antiqua" panose="02040602050305030304" pitchFamily="18" charset="0"/>
              </a:rPr>
              <a:t>HEAD OF THE DEPARTMENT:</a:t>
            </a:r>
          </a:p>
          <a:p>
            <a:pPr algn="just">
              <a:lnSpc>
                <a:spcPct val="150000"/>
              </a:lnSpc>
            </a:pPr>
            <a:r>
              <a:rPr lang="en-IN" dirty="0">
                <a:latin typeface="Book Antiqua" panose="02040602050305030304" pitchFamily="18" charset="0"/>
              </a:rPr>
              <a:t>Dr. CH. V. PHANI KRISHNA</a:t>
            </a:r>
          </a:p>
          <a:p>
            <a:pPr algn="just">
              <a:lnSpc>
                <a:spcPct val="150000"/>
              </a:lnSpc>
            </a:pPr>
            <a:r>
              <a:rPr lang="en-IN" dirty="0">
                <a:latin typeface="Times New Roman" panose="02020603050405020304" pitchFamily="18" charset="0"/>
                <a:cs typeface="Times New Roman" panose="02020603050405020304" pitchFamily="18" charset="0"/>
              </a:rPr>
              <a:t>PROFESSOR</a:t>
            </a:r>
          </a:p>
        </p:txBody>
      </p:sp>
      <p:sp>
        <p:nvSpPr>
          <p:cNvPr id="9" name="TextBox 8"/>
          <p:cNvSpPr txBox="1"/>
          <p:nvPr/>
        </p:nvSpPr>
        <p:spPr>
          <a:xfrm>
            <a:off x="8001000" y="4121129"/>
            <a:ext cx="3416610" cy="1289071"/>
          </a:xfrm>
          <a:prstGeom prst="rect">
            <a:avLst/>
          </a:prstGeom>
          <a:noFill/>
        </p:spPr>
        <p:txBody>
          <a:bodyPr wrap="square" rtlCol="0">
            <a:spAutoFit/>
          </a:bodyPr>
          <a:lstStyle/>
          <a:p>
            <a:pPr algn="just">
              <a:lnSpc>
                <a:spcPct val="150000"/>
              </a:lnSpc>
            </a:pPr>
            <a:r>
              <a:rPr lang="en-IN" b="1" u="sng" dirty="0">
                <a:latin typeface="Book Antiqua" panose="02040602050305030304" pitchFamily="18" charset="0"/>
              </a:rPr>
              <a:t>PROJECT CO-ORDINATOR:</a:t>
            </a:r>
          </a:p>
          <a:p>
            <a:pPr algn="just">
              <a:lnSpc>
                <a:spcPct val="150000"/>
              </a:lnSpc>
            </a:pPr>
            <a:r>
              <a:rPr lang="en-IN" dirty="0">
                <a:latin typeface="Book Antiqua" panose="02040602050305030304" pitchFamily="18" charset="0"/>
              </a:rPr>
              <a:t>Mrs. A. MOUNIKA</a:t>
            </a:r>
          </a:p>
          <a:p>
            <a:pPr algn="just">
              <a:lnSpc>
                <a:spcPct val="150000"/>
              </a:lnSpc>
            </a:pPr>
            <a:r>
              <a:rPr lang="en-IN" dirty="0">
                <a:latin typeface="Times New Roman" panose="02020603050405020304" pitchFamily="18" charset="0"/>
                <a:cs typeface="Times New Roman" panose="02020603050405020304" pitchFamily="18" charset="0"/>
              </a:rPr>
              <a:t>ASSISTANT PROFESSOR</a:t>
            </a:r>
          </a:p>
        </p:txBody>
      </p:sp>
      <p:cxnSp>
        <p:nvCxnSpPr>
          <p:cNvPr id="2" name="Straight Connector 1"/>
          <p:cNvCxnSpPr/>
          <p:nvPr/>
        </p:nvCxnSpPr>
        <p:spPr>
          <a:xfrm>
            <a:off x="1905000" y="3581400"/>
            <a:ext cx="814014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990600" y="1676400"/>
            <a:ext cx="10287000" cy="100520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altLang="en-US" sz="3200" b="1" dirty="0">
                <a:latin typeface="Verdana" panose="020B0604030504040204" pitchFamily="34" charset="0"/>
                <a:ea typeface="Verdana" panose="020B0604030504040204" pitchFamily="34" charset="0"/>
              </a:rPr>
              <a:t>AI-Powered Automated Attendance System                      </a:t>
            </a:r>
          </a:p>
        </p:txBody>
      </p:sp>
      <p:sp>
        <p:nvSpPr>
          <p:cNvPr id="7" name="TextBox 6"/>
          <p:cNvSpPr txBox="1"/>
          <p:nvPr/>
        </p:nvSpPr>
        <p:spPr>
          <a:xfrm>
            <a:off x="1066800" y="3581400"/>
            <a:ext cx="3200400" cy="1337945"/>
          </a:xfrm>
          <a:prstGeom prst="rect">
            <a:avLst/>
          </a:prstGeom>
          <a:noFill/>
        </p:spPr>
        <p:txBody>
          <a:bodyPr wrap="square" rtlCol="0">
            <a:spAutoFit/>
          </a:bodyPr>
          <a:lstStyle/>
          <a:p>
            <a:pPr algn="just">
              <a:lnSpc>
                <a:spcPct val="150000"/>
              </a:lnSpc>
            </a:pPr>
            <a:r>
              <a:rPr lang="en-IN" b="1" u="sng" dirty="0">
                <a:latin typeface="Book Antiqua" panose="02040602050305030304" pitchFamily="18" charset="0"/>
              </a:rPr>
              <a:t>SUPERVISOR:</a:t>
            </a:r>
          </a:p>
          <a:p>
            <a:pPr algn="just">
              <a:lnSpc>
                <a:spcPct val="150000"/>
              </a:lnSpc>
            </a:pPr>
            <a:r>
              <a:rPr lang="en-IN" dirty="0">
                <a:latin typeface="Book Antiqua" panose="02040602050305030304" pitchFamily="18" charset="0"/>
              </a:rPr>
              <a:t>MRS.</a:t>
            </a:r>
            <a:r>
              <a:rPr lang="en-US" altLang="en-IN" dirty="0">
                <a:latin typeface="Book Antiqua" panose="02040602050305030304" pitchFamily="18" charset="0"/>
              </a:rPr>
              <a:t>P.SWETHA</a:t>
            </a:r>
            <a:endParaRPr lang="en-IN" dirty="0">
              <a:latin typeface="Book Antiqua" panose="0204060205030503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ASSISTANT PROFESSOR</a:t>
            </a:r>
          </a:p>
        </p:txBody>
      </p:sp>
      <p:sp>
        <p:nvSpPr>
          <p:cNvPr id="8" name="TextBox 7"/>
          <p:cNvSpPr txBox="1"/>
          <p:nvPr/>
        </p:nvSpPr>
        <p:spPr>
          <a:xfrm>
            <a:off x="7372350" y="3581400"/>
            <a:ext cx="4514850" cy="1754326"/>
          </a:xfrm>
          <a:prstGeom prst="rect">
            <a:avLst/>
          </a:prstGeom>
          <a:noFill/>
        </p:spPr>
        <p:txBody>
          <a:bodyPr wrap="square" rtlCol="0">
            <a:spAutoFit/>
          </a:bodyPr>
          <a:lstStyle/>
          <a:p>
            <a:pPr>
              <a:lnSpc>
                <a:spcPct val="150000"/>
              </a:lnSpc>
            </a:pPr>
            <a:r>
              <a:rPr lang="en-IN" b="1" u="sng" dirty="0">
                <a:latin typeface="Book Antiqua" panose="02040602050305030304" pitchFamily="18" charset="0"/>
              </a:rPr>
              <a:t>TEAM MEMBERS:</a:t>
            </a:r>
          </a:p>
          <a:p>
            <a:pPr>
              <a:lnSpc>
                <a:spcPct val="150000"/>
              </a:lnSpc>
            </a:pPr>
            <a:r>
              <a:rPr lang="en-IN" dirty="0">
                <a:latin typeface="Book Antiqua" panose="02040602050305030304" pitchFamily="18" charset="0"/>
              </a:rPr>
              <a:t>M.NITHISH KUMAR-23R91A05L6</a:t>
            </a:r>
          </a:p>
          <a:p>
            <a:r>
              <a:rPr lang="en-US" altLang="en-IN" dirty="0">
                <a:latin typeface="Book Antiqua" panose="02040602050305030304" pitchFamily="18" charset="0"/>
              </a:rPr>
              <a:t>P.RAHUL-23R91A05P1</a:t>
            </a:r>
            <a:endParaRPr lang="en-IN" dirty="0">
              <a:latin typeface="Book Antiqua" panose="02040602050305030304" pitchFamily="18" charset="0"/>
            </a:endParaRPr>
          </a:p>
          <a:p>
            <a:r>
              <a:rPr lang="en-IN" dirty="0">
                <a:latin typeface="Book Antiqua" panose="02040602050305030304" pitchFamily="18" charset="0"/>
              </a:rPr>
              <a:t>P.HARSHITHA-23R91A05Q2</a:t>
            </a:r>
          </a:p>
          <a:p>
            <a:r>
              <a:rPr lang="en-US" altLang="en-IN" dirty="0">
                <a:latin typeface="Book Antiqua" panose="02040602050305030304" pitchFamily="18" charset="0"/>
              </a:rPr>
              <a:t>R.CHARAN KUMAR-23R91A05R2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p:nvPr/>
        </p:nvSpPr>
        <p:spPr>
          <a:xfrm>
            <a:off x="905510" y="16764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7" name="object 3"/>
          <p:cNvSpPr txBox="1">
            <a:spLocks noGrp="1"/>
          </p:cNvSpPr>
          <p:nvPr>
            <p:ph type="title"/>
          </p:nvPr>
        </p:nvSpPr>
        <p:spPr>
          <a:xfrm>
            <a:off x="902412" y="1124967"/>
            <a:ext cx="10527588" cy="551433"/>
          </a:xfrm>
          <a:prstGeom prst="rect">
            <a:avLst/>
          </a:prstGeom>
        </p:spPr>
        <p:txBody>
          <a:bodyPr vert="horz" wrap="square" lIns="0" tIns="12700" rIns="0" bIns="0" rtlCol="0">
            <a:spAutoFit/>
          </a:bodyPr>
          <a:lstStyle/>
          <a:p>
            <a:pPr marL="12700">
              <a:lnSpc>
                <a:spcPct val="100000"/>
              </a:lnSpc>
              <a:spcBef>
                <a:spcPts val="100"/>
              </a:spcBef>
            </a:pPr>
            <a:r>
              <a:rPr sz="3500" spc="-50" dirty="0">
                <a:solidFill>
                  <a:srgbClr val="171717"/>
                </a:solidFill>
                <a:latin typeface="Times New Roman" panose="02020603050405020304" pitchFamily="18" charset="0"/>
                <a:cs typeface="Times New Roman" panose="02020603050405020304" pitchFamily="18" charset="0"/>
              </a:rPr>
              <a:t>CONTENTS:</a:t>
            </a:r>
            <a:endParaRPr sz="3500" dirty="0">
              <a:latin typeface="Times New Roman" panose="02020603050405020304" pitchFamily="18" charset="0"/>
              <a:cs typeface="Times New Roman" panose="02020603050405020304" pitchFamily="18" charset="0"/>
            </a:endParaRPr>
          </a:p>
        </p:txBody>
      </p:sp>
      <p:sp>
        <p:nvSpPr>
          <p:cNvPr id="8" name="object 4"/>
          <p:cNvSpPr txBox="1"/>
          <p:nvPr/>
        </p:nvSpPr>
        <p:spPr>
          <a:xfrm>
            <a:off x="1221740" y="1676400"/>
            <a:ext cx="3731260" cy="4945380"/>
          </a:xfrm>
          <a:prstGeom prst="rect">
            <a:avLst/>
          </a:prstGeom>
        </p:spPr>
        <p:txBody>
          <a:bodyPr vert="horz" wrap="square" lIns="0" tIns="12065" rIns="0" bIns="0" rtlCol="0">
            <a:noAutofit/>
          </a:bodyPr>
          <a:lstStyle/>
          <a:p>
            <a:pPr marL="298450" indent="-285750" algn="just">
              <a:lnSpc>
                <a:spcPct val="100000"/>
              </a:lnSpc>
              <a:spcBef>
                <a:spcPts val="95"/>
              </a:spcBef>
              <a:buFont typeface="Wingdings" panose="05000000000000000000" pitchFamily="2" charset="2"/>
              <a:buChar char="q"/>
              <a:tabLst>
                <a:tab pos="240665" algn="l"/>
              </a:tabLst>
            </a:pPr>
            <a:r>
              <a:rPr sz="1600" spc="40" dirty="0">
                <a:latin typeface="Times New Roman" panose="02020603050405020304" pitchFamily="18" charset="0"/>
                <a:cs typeface="Times New Roman" panose="02020603050405020304" pitchFamily="18" charset="0"/>
              </a:rPr>
              <a:t>ABSTRACT</a:t>
            </a:r>
            <a:endParaRPr lang="en-IN" sz="1600" spc="40" dirty="0">
              <a:latin typeface="Times New Roman" panose="02020603050405020304" pitchFamily="18" charset="0"/>
              <a:cs typeface="Times New Roman" panose="02020603050405020304" pitchFamily="18" charset="0"/>
            </a:endParaRPr>
          </a:p>
          <a:p>
            <a:pPr marL="298450" indent="-285750" algn="just">
              <a:lnSpc>
                <a:spcPct val="100000"/>
              </a:lnSpc>
              <a:spcBef>
                <a:spcPts val="95"/>
              </a:spcBef>
              <a:buFont typeface="Wingdings" panose="05000000000000000000" pitchFamily="2" charset="2"/>
              <a:buChar char="q"/>
              <a:tabLst>
                <a:tab pos="240665" algn="l"/>
              </a:tabLst>
            </a:pPr>
            <a:endParaRPr lang="en-IN" sz="1600" spc="40" dirty="0">
              <a:latin typeface="Times New Roman" panose="02020603050405020304" pitchFamily="18" charset="0"/>
              <a:cs typeface="Times New Roman" panose="02020603050405020304" pitchFamily="18" charset="0"/>
            </a:endParaRPr>
          </a:p>
          <a:p>
            <a:pPr marL="298450" indent="-285750" algn="just">
              <a:lnSpc>
                <a:spcPct val="100000"/>
              </a:lnSpc>
              <a:spcBef>
                <a:spcPts val="95"/>
              </a:spcBef>
              <a:buFont typeface="Wingdings" panose="05000000000000000000" pitchFamily="2" charset="2"/>
              <a:buChar char="q"/>
              <a:tabLst>
                <a:tab pos="240665" algn="l"/>
              </a:tabLst>
            </a:pPr>
            <a:r>
              <a:rPr lang="en-IN" sz="1600" spc="40" dirty="0">
                <a:latin typeface="Times New Roman" panose="02020603050405020304" pitchFamily="18" charset="0"/>
                <a:cs typeface="Times New Roman" panose="02020603050405020304" pitchFamily="18" charset="0"/>
              </a:rPr>
              <a:t>INTRODUCTION</a:t>
            </a:r>
          </a:p>
          <a:p>
            <a:pPr marL="298450" indent="-285750" algn="just">
              <a:lnSpc>
                <a:spcPct val="100000"/>
              </a:lnSpc>
              <a:spcBef>
                <a:spcPts val="95"/>
              </a:spcBef>
              <a:buFont typeface="Wingdings" panose="05000000000000000000" pitchFamily="2" charset="2"/>
              <a:buChar char="q"/>
              <a:tabLst>
                <a:tab pos="240665" algn="l"/>
              </a:tabLst>
            </a:pPr>
            <a:endParaRPr lang="en-IN" sz="1600" spc="40" dirty="0">
              <a:latin typeface="Times New Roman" panose="02020603050405020304" pitchFamily="18" charset="0"/>
              <a:cs typeface="Times New Roman" panose="02020603050405020304" pitchFamily="18" charset="0"/>
            </a:endParaRPr>
          </a:p>
          <a:p>
            <a:pPr marL="298450" indent="-285750" algn="just">
              <a:lnSpc>
                <a:spcPct val="100000"/>
              </a:lnSpc>
              <a:spcBef>
                <a:spcPts val="95"/>
              </a:spcBef>
              <a:buFont typeface="Wingdings" panose="05000000000000000000" pitchFamily="2" charset="2"/>
              <a:buChar char="q"/>
              <a:tabLst>
                <a:tab pos="240665" algn="l"/>
              </a:tabLst>
            </a:pPr>
            <a:r>
              <a:rPr lang="en-IN" sz="1600" spc="40" dirty="0">
                <a:latin typeface="Times New Roman" panose="02020603050405020304" pitchFamily="18" charset="0"/>
                <a:cs typeface="Times New Roman" panose="02020603050405020304" pitchFamily="18" charset="0"/>
              </a:rPr>
              <a:t>EXISTING SYSTEM</a:t>
            </a:r>
          </a:p>
          <a:p>
            <a:pPr marL="298450" indent="-285750" algn="just">
              <a:lnSpc>
                <a:spcPct val="100000"/>
              </a:lnSpc>
              <a:spcBef>
                <a:spcPts val="95"/>
              </a:spcBef>
              <a:buFont typeface="Wingdings" panose="05000000000000000000" pitchFamily="2" charset="2"/>
              <a:buChar char="q"/>
              <a:tabLst>
                <a:tab pos="240665" algn="l"/>
              </a:tabLst>
            </a:pPr>
            <a:endParaRPr sz="1600" dirty="0">
              <a:latin typeface="Times New Roman" panose="02020603050405020304" pitchFamily="18" charset="0"/>
              <a:cs typeface="Times New Roman" panose="02020603050405020304" pitchFamily="18" charset="0"/>
            </a:endParaRPr>
          </a:p>
          <a:p>
            <a:pPr marL="298450" indent="-285750" algn="just">
              <a:lnSpc>
                <a:spcPct val="100000"/>
              </a:lnSpc>
              <a:buFont typeface="Wingdings" panose="05000000000000000000" pitchFamily="2" charset="2"/>
              <a:buChar char="q"/>
              <a:tabLst>
                <a:tab pos="240665" algn="l"/>
              </a:tabLst>
            </a:pPr>
            <a:r>
              <a:rPr lang="en-IN" sz="1600" dirty="0">
                <a:latin typeface="Times New Roman" panose="02020603050405020304" pitchFamily="18" charset="0"/>
                <a:cs typeface="Times New Roman" panose="02020603050405020304" pitchFamily="18" charset="0"/>
              </a:rPr>
              <a:t>PROPOSED SYSTEM</a:t>
            </a:r>
          </a:p>
          <a:p>
            <a:pPr marL="298450" indent="-285750" algn="just">
              <a:lnSpc>
                <a:spcPct val="100000"/>
              </a:lnSpc>
              <a:buFont typeface="Wingdings" panose="05000000000000000000" pitchFamily="2" charset="2"/>
              <a:buChar char="q"/>
              <a:tabLst>
                <a:tab pos="240665" algn="l"/>
              </a:tabLst>
            </a:pPr>
            <a:endParaRPr lang="en-IN" sz="1600" dirty="0">
              <a:latin typeface="Times New Roman" panose="02020603050405020304" pitchFamily="18" charset="0"/>
              <a:cs typeface="Times New Roman" panose="02020603050405020304" pitchFamily="18" charset="0"/>
            </a:endParaRPr>
          </a:p>
          <a:p>
            <a:pPr marL="298450" indent="-285750" algn="just">
              <a:buFont typeface="Wingdings" panose="05000000000000000000" pitchFamily="2" charset="2"/>
              <a:buChar char="q"/>
              <a:tabLst>
                <a:tab pos="240665" algn="l"/>
              </a:tabLst>
            </a:pPr>
            <a:r>
              <a:rPr lang="en-IN" sz="1600" dirty="0">
                <a:latin typeface="Times New Roman" panose="02020603050405020304" pitchFamily="18" charset="0"/>
                <a:cs typeface="Times New Roman" panose="02020603050405020304" pitchFamily="18" charset="0"/>
              </a:rPr>
              <a:t>SYSTEM SPECIFICATIONS</a:t>
            </a:r>
            <a:endParaRPr sz="1600" dirty="0">
              <a:latin typeface="Times New Roman" panose="02020603050405020304" pitchFamily="18" charset="0"/>
              <a:cs typeface="Times New Roman" panose="02020603050405020304" pitchFamily="18" charset="0"/>
            </a:endParaRPr>
          </a:p>
          <a:p>
            <a:pPr marL="285750" indent="-285750" algn="just">
              <a:lnSpc>
                <a:spcPct val="100000"/>
              </a:lnSpc>
              <a:spcBef>
                <a:spcPts val="100"/>
              </a:spcBef>
              <a:buFont typeface="Wingdings" panose="05000000000000000000" pitchFamily="2" charset="2"/>
              <a:buChar char="q"/>
            </a:pPr>
            <a:endParaRPr lang="en-IN" sz="1600" dirty="0">
              <a:latin typeface="Times New Roman" panose="02020603050405020304" pitchFamily="18" charset="0"/>
              <a:cs typeface="Times New Roman" panose="02020603050405020304" pitchFamily="18" charset="0"/>
            </a:endParaRPr>
          </a:p>
          <a:p>
            <a:pPr marL="285750" indent="-285750" algn="just">
              <a:lnSpc>
                <a:spcPct val="100000"/>
              </a:lnSpc>
              <a:spcBef>
                <a:spcPts val="100"/>
              </a:spcBef>
              <a:buFont typeface="Wingdings" panose="05000000000000000000" pitchFamily="2" charset="2"/>
              <a:buChar char="q"/>
            </a:pPr>
            <a:r>
              <a:rPr lang="en-IN" sz="1600" dirty="0">
                <a:latin typeface="Times New Roman" panose="02020603050405020304" pitchFamily="18" charset="0"/>
                <a:cs typeface="Times New Roman" panose="02020603050405020304" pitchFamily="18" charset="0"/>
              </a:rPr>
              <a:t>SYSTEM ARCHITECTURE</a:t>
            </a:r>
          </a:p>
          <a:p>
            <a:pPr marL="285750" indent="-285750" algn="just">
              <a:lnSpc>
                <a:spcPct val="100000"/>
              </a:lnSpc>
              <a:spcBef>
                <a:spcPts val="100"/>
              </a:spcBef>
              <a:buFont typeface="Wingdings" panose="05000000000000000000" pitchFamily="2" charset="2"/>
              <a:buChar char="q"/>
            </a:pPr>
            <a:endParaRPr lang="en-IN" sz="1600" dirty="0">
              <a:latin typeface="Times New Roman" panose="02020603050405020304" pitchFamily="18" charset="0"/>
              <a:cs typeface="Times New Roman" panose="02020603050405020304" pitchFamily="18" charset="0"/>
            </a:endParaRPr>
          </a:p>
          <a:p>
            <a:pPr marL="285750" indent="-285750" algn="just">
              <a:lnSpc>
                <a:spcPct val="100000"/>
              </a:lnSpc>
              <a:spcBef>
                <a:spcPts val="100"/>
              </a:spcBef>
              <a:buFont typeface="Wingdings" panose="05000000000000000000" pitchFamily="2" charset="2"/>
              <a:buChar char="q"/>
            </a:pPr>
            <a:r>
              <a:rPr lang="en-IN" sz="1600" dirty="0">
                <a:latin typeface="Times New Roman" panose="02020603050405020304" pitchFamily="18" charset="0"/>
                <a:cs typeface="Times New Roman" panose="02020603050405020304" pitchFamily="18" charset="0"/>
              </a:rPr>
              <a:t>MODULES</a:t>
            </a:r>
          </a:p>
          <a:p>
            <a:pPr marL="285750" indent="-285750" algn="just">
              <a:lnSpc>
                <a:spcPct val="100000"/>
              </a:lnSpc>
              <a:spcBef>
                <a:spcPts val="100"/>
              </a:spcBef>
              <a:buFont typeface="Wingdings" panose="05000000000000000000" pitchFamily="2" charset="2"/>
              <a:buChar char="q"/>
            </a:pPr>
            <a:endParaRPr lang="en-IN" sz="1600" dirty="0">
              <a:latin typeface="Times New Roman" panose="02020603050405020304" pitchFamily="18" charset="0"/>
              <a:cs typeface="Times New Roman" panose="02020603050405020304" pitchFamily="18" charset="0"/>
            </a:endParaRPr>
          </a:p>
          <a:p>
            <a:pPr marL="285750" indent="-285750" algn="just">
              <a:lnSpc>
                <a:spcPct val="100000"/>
              </a:lnSpc>
              <a:spcBef>
                <a:spcPts val="100"/>
              </a:spcBef>
              <a:buFont typeface="Wingdings" panose="05000000000000000000" pitchFamily="2" charset="2"/>
              <a:buChar char="q"/>
            </a:pPr>
            <a:r>
              <a:rPr lang="en-IN" sz="1600" dirty="0">
                <a:latin typeface="Times New Roman" panose="02020603050405020304" pitchFamily="18" charset="0"/>
                <a:cs typeface="Times New Roman" panose="02020603050405020304" pitchFamily="18" charset="0"/>
              </a:rPr>
              <a:t>UML DIAGRAMS</a:t>
            </a:r>
          </a:p>
          <a:p>
            <a:pPr indent="0" algn="just">
              <a:lnSpc>
                <a:spcPct val="100000"/>
              </a:lnSpc>
              <a:spcBef>
                <a:spcPts val="100"/>
              </a:spcBef>
              <a:buFont typeface="Wingdings" panose="05000000000000000000" pitchFamily="2" charset="2"/>
              <a:buNone/>
            </a:pPr>
            <a:endParaRPr lang="en-IN" sz="1600" dirty="0">
              <a:latin typeface="Times New Roman" panose="02020603050405020304" pitchFamily="18" charset="0"/>
              <a:cs typeface="Times New Roman" panose="02020603050405020304" pitchFamily="18" charset="0"/>
            </a:endParaRPr>
          </a:p>
          <a:p>
            <a:pPr marL="285750" indent="-285750" algn="just">
              <a:lnSpc>
                <a:spcPct val="100000"/>
              </a:lnSpc>
              <a:spcBef>
                <a:spcPts val="1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Conclusion</a:t>
            </a:r>
          </a:p>
          <a:p>
            <a:pPr marL="285750" indent="-285750" algn="just">
              <a:lnSpc>
                <a:spcPct val="100000"/>
              </a:lnSpc>
              <a:spcBef>
                <a:spcPts val="100"/>
              </a:spcBef>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just">
              <a:lnSpc>
                <a:spcPct val="100000"/>
              </a:lnSpc>
              <a:spcBef>
                <a:spcPts val="1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Reference</a:t>
            </a:r>
          </a:p>
        </p:txBody>
      </p:sp>
      <p:pic>
        <p:nvPicPr>
          <p:cNvPr id="2" name="Picture 1"/>
          <p:cNvPicPr/>
          <p:nvPr/>
        </p:nvPicPr>
        <p:blipFill>
          <a:blip r:embed="rId2"/>
          <a:srcRect b="9740"/>
          <a:stretch>
            <a:fillRect/>
          </a:stretch>
        </p:blipFill>
        <p:spPr>
          <a:xfrm>
            <a:off x="6324600" y="2204473"/>
            <a:ext cx="4724400" cy="30533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68580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p:cNvSpPr txBox="1">
            <a:spLocks noGrp="1"/>
          </p:cNvSpPr>
          <p:nvPr>
            <p:ph type="title"/>
          </p:nvPr>
        </p:nvSpPr>
        <p:spPr>
          <a:xfrm>
            <a:off x="673812" y="946944"/>
            <a:ext cx="10527588" cy="653256"/>
          </a:xfrm>
          <a:prstGeom prst="rect">
            <a:avLst/>
          </a:prstGeom>
        </p:spPr>
        <p:txBody>
          <a:bodyPr vert="horz" wrap="square" lIns="0" tIns="281178" rIns="0" bIns="0" rtlCol="0">
            <a:spAutoFit/>
          </a:bodyPr>
          <a:lstStyle/>
          <a:p>
            <a:pPr marL="97155">
              <a:lnSpc>
                <a:spcPct val="100000"/>
              </a:lnSpc>
              <a:spcBef>
                <a:spcPts val="100"/>
              </a:spcBef>
            </a:pPr>
            <a:r>
              <a:rPr lang="en-IN" sz="2400" spc="-10" dirty="0">
                <a:latin typeface="Times New Roman" panose="02020603050405020304" pitchFamily="18" charset="0"/>
                <a:cs typeface="Times New Roman" panose="02020603050405020304" pitchFamily="18" charset="0"/>
              </a:rPr>
              <a:t>ABSTRACT</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9" name="object 4"/>
          <p:cNvSpPr txBox="1"/>
          <p:nvPr/>
        </p:nvSpPr>
        <p:spPr>
          <a:xfrm>
            <a:off x="756005" y="1600200"/>
            <a:ext cx="10597795" cy="4030591"/>
          </a:xfrm>
          <a:prstGeom prst="rect">
            <a:avLst/>
          </a:prstGeom>
        </p:spPr>
        <p:txBody>
          <a:bodyPr vert="horz" wrap="square" lIns="0" tIns="12065" rIns="0" bIns="0" rtlCol="0">
            <a:spAutoFit/>
          </a:bodyPr>
          <a:lstStyle/>
          <a:p>
            <a:pPr marL="170815" marR="165100" indent="1905" algn="just">
              <a:lnSpc>
                <a:spcPct val="150000"/>
              </a:lnSpc>
              <a:spcBef>
                <a:spcPts val="95"/>
              </a:spcBef>
            </a:pPr>
            <a:r>
              <a:rPr lang="en-US" altLang="en-US" sz="1600" dirty="0">
                <a:latin typeface="Times New Roman" panose="02020603050405020304" pitchFamily="18" charset="0"/>
                <a:cs typeface="Times New Roman" panose="02020603050405020304" pitchFamily="18" charset="0"/>
              </a:rPr>
              <a:t>In the evolving landscape of digital education, efficient attendance management remains a critical challenge. Traditional attendance systems, often relying on manual roll calls or basic electronic methods, suffer from inefficiencies, inaccuracies, and vulnerabilities to misuse such as proxy attendance. As educational institutions grow larger and more complex, there is an increasing need for automated, reliable, and secure attendance solutions. An effective system should minimize manual intervention while ensuring accuracy, real-time monitoring, and ease of data management. The proposed AI-Powered Automated Attendance System leverages CCTV cameras combined with advanced computer vision and deep learning techniques to automatically detect and recognize student faces in real time. This approach eliminates manual errors, reduces administrative workload, and prevents fraudulent attendance practices. By integrating intelligent face recognition algorithms with a centralized database, the system offers seamless attendance tracking, efficient data storage, and easy accessibility for faculty and administrators. As educational environments continue to modernize, this solution is well-equipped to meet growing demands, providing a scalable, secure, and forward-thinking attendance management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67691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p:cNvSpPr txBox="1">
            <a:spLocks noGrp="1"/>
          </p:cNvSpPr>
          <p:nvPr>
            <p:ph type="title"/>
          </p:nvPr>
        </p:nvSpPr>
        <p:spPr>
          <a:xfrm>
            <a:off x="596342" y="1077749"/>
            <a:ext cx="10527588" cy="522451"/>
          </a:xfrm>
          <a:prstGeom prst="rect">
            <a:avLst/>
          </a:prstGeom>
        </p:spPr>
        <p:txBody>
          <a:bodyPr vert="horz" wrap="square" lIns="0" tIns="151638" rIns="0" bIns="0" rtlCol="0">
            <a:spAutoFit/>
          </a:bodyPr>
          <a:lstStyle/>
          <a:p>
            <a:pPr marL="109220">
              <a:lnSpc>
                <a:spcPct val="100000"/>
              </a:lnSpc>
              <a:spcBef>
                <a:spcPts val="100"/>
              </a:spcBef>
            </a:pPr>
            <a:r>
              <a:rPr lang="en-IN" sz="2400" spc="-10" dirty="0">
                <a:latin typeface="Times New Roman" panose="02020603050405020304" pitchFamily="18" charset="0"/>
                <a:cs typeface="Times New Roman" panose="02020603050405020304" pitchFamily="18" charset="0"/>
              </a:rPr>
              <a:t>INTRODUCTION</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9" name="object 4"/>
          <p:cNvSpPr txBox="1"/>
          <p:nvPr/>
        </p:nvSpPr>
        <p:spPr>
          <a:xfrm>
            <a:off x="802996" y="1599062"/>
            <a:ext cx="10320934" cy="2553904"/>
          </a:xfrm>
          <a:prstGeom prst="rect">
            <a:avLst/>
          </a:prstGeom>
        </p:spPr>
        <p:txBody>
          <a:bodyPr vert="horz" wrap="square" lIns="0" tIns="12700" rIns="0" bIns="0"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In an era driven by automation and artificial intelligence, educational institutions continue to face the administrative burden of manually tracking student presence. Traditional methods are not only time-consuming but are frequently compromised by proxy attendance and human error. To bridge this technological gap, we introduce the AI-Powered Automated Attendance System. This project leverages state-of-the-art Computer Vision and Deep Learning algorithms to seamlessly identify students in real-time through classroom camera feeds. By completely eliminating physical interaction and manual roll calls, this system transforms attendance from a tedious administrative task into an invisible, highly accurate, and secure background process. It is designed to empower faculty, maintain absolute academic integrity, and modernize the educational ecosystem.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609600" y="1230868"/>
            <a:ext cx="10527588" cy="369332"/>
          </a:xfrm>
        </p:spPr>
        <p:txBody>
          <a:bodyPr>
            <a:normAutofit fontScale="90000"/>
          </a:bodyPr>
          <a:lstStyle/>
          <a:p>
            <a:r>
              <a:rPr lang="en-IN" sz="2400" dirty="0">
                <a:latin typeface="Times New Roman" panose="02020603050405020304" pitchFamily="18" charset="0"/>
                <a:cs typeface="Times New Roman" panose="02020603050405020304" pitchFamily="18" charset="0"/>
              </a:rPr>
              <a:t>EXISTING SYSTEM:</a:t>
            </a:r>
          </a:p>
        </p:txBody>
      </p:sp>
      <p:sp>
        <p:nvSpPr>
          <p:cNvPr id="10" name="Text Placeholder 2"/>
          <p:cNvSpPr>
            <a:spLocks noGrp="1"/>
          </p:cNvSpPr>
          <p:nvPr>
            <p:ph idx="1"/>
          </p:nvPr>
        </p:nvSpPr>
        <p:spPr>
          <a:xfrm>
            <a:off x="769374" y="1600200"/>
            <a:ext cx="10660626" cy="4876800"/>
          </a:xfrm>
        </p:spPr>
        <p:txBody>
          <a:bodyPr>
            <a:noAutofit/>
          </a:bodyPr>
          <a:lstStyle/>
          <a:p>
            <a:pPr marL="0" indent="0" algn="just">
              <a:lnSpc>
                <a:spcPct val="150000"/>
              </a:lnSpc>
              <a:buNone/>
            </a:pPr>
            <a:r>
              <a:rPr lang="en-US" altLang="en-US" sz="1600" dirty="0">
                <a:latin typeface="Times New Roman" panose="02020603050405020304" pitchFamily="18" charset="0"/>
                <a:cs typeface="Times New Roman" panose="02020603050405020304" pitchFamily="18" charset="0"/>
              </a:rPr>
              <a:t>The existing attendance system mainly relies on manual roll calls, paper-based registers, or basic electronic systems such as RFID cards and biometric scanners. These systems require physical interaction, causing delays and crowding during attendance marking. Proxy attendance remains a common issue due to card sharing or fingerprint manipulation. Additionally, these systems lack real-time monitoring and automated verification, making it difficult to detect fraudulent attendance. Managing attendance records manually or with limited automation is cumbersome, especially for large classrooms, resulting in inefficiency and errors </a:t>
            </a:r>
          </a:p>
          <a:p>
            <a:pPr marL="0" indent="0" algn="just">
              <a:lnSpc>
                <a:spcPct val="150000"/>
              </a:lnSpc>
              <a:spcBef>
                <a:spcPts val="100"/>
              </a:spcBef>
              <a:buNone/>
            </a:pPr>
            <a:r>
              <a:rPr lang="en-US" altLang="en-US" b="1" dirty="0">
                <a:latin typeface="Times New Roman" panose="02020603050405020304" pitchFamily="18" charset="0"/>
                <a:cs typeface="Times New Roman" panose="02020603050405020304" pitchFamily="18" charset="0"/>
              </a:rPr>
              <a:t>Drawbacks:</a:t>
            </a:r>
          </a:p>
          <a:p>
            <a:pPr marL="263525" indent="-263525" algn="just">
              <a:lnSpc>
                <a:spcPct val="150000"/>
              </a:lnSpc>
              <a:spcBef>
                <a:spcPts val="100"/>
              </a:spcBef>
              <a:buFont typeface="Wingdings" panose="05000000000000000000" pitchFamily="2" charset="2"/>
              <a:buChar char="v"/>
              <a:tabLst>
                <a:tab pos="182245" algn="l"/>
              </a:tabLst>
            </a:pPr>
            <a:r>
              <a:rPr lang="en-US" altLang="en-US" sz="1600" b="1" dirty="0">
                <a:latin typeface="Times New Roman" panose="02020603050405020304" pitchFamily="18" charset="0"/>
                <a:cs typeface="Times New Roman" panose="02020603050405020304" pitchFamily="18" charset="0"/>
              </a:rPr>
              <a:t>Manual Process: </a:t>
            </a:r>
            <a:r>
              <a:rPr lang="en-US" altLang="en-US" sz="1600" dirty="0">
                <a:latin typeface="Times New Roman" panose="02020603050405020304" pitchFamily="18" charset="0"/>
                <a:cs typeface="Times New Roman" panose="02020603050405020304" pitchFamily="18" charset="0"/>
              </a:rPr>
              <a:t>Requires teachers to call out names or students to sign registers, consuming valuable class time.</a:t>
            </a:r>
          </a:p>
          <a:p>
            <a:pPr marL="263525" indent="-263525" algn="just">
              <a:lnSpc>
                <a:spcPct val="150000"/>
              </a:lnSpc>
              <a:spcBef>
                <a:spcPts val="100"/>
              </a:spcBef>
              <a:buFont typeface="Wingdings" panose="05000000000000000000" pitchFamily="2" charset="2"/>
              <a:buChar char="v"/>
              <a:tabLst>
                <a:tab pos="182245" algn="l"/>
              </a:tabLst>
            </a:pPr>
            <a:r>
              <a:rPr lang="en-US" altLang="en-US" sz="1600" b="1" dirty="0">
                <a:latin typeface="Times New Roman" panose="02020603050405020304" pitchFamily="18" charset="0"/>
                <a:cs typeface="Times New Roman" panose="02020603050405020304" pitchFamily="18" charset="0"/>
              </a:rPr>
              <a:t>Physical Interaction: </a:t>
            </a:r>
            <a:r>
              <a:rPr lang="en-US" altLang="en-US" sz="1600" dirty="0">
                <a:latin typeface="Times New Roman" panose="02020603050405020304" pitchFamily="18" charset="0"/>
                <a:cs typeface="Times New Roman" panose="02020603050405020304" pitchFamily="18" charset="0"/>
              </a:rPr>
              <a:t>Students must use cards or biometric devices, causing delays and queues.</a:t>
            </a:r>
          </a:p>
          <a:p>
            <a:pPr marL="263525" indent="-263525" algn="just">
              <a:lnSpc>
                <a:spcPct val="150000"/>
              </a:lnSpc>
              <a:spcBef>
                <a:spcPts val="100"/>
              </a:spcBef>
              <a:buFont typeface="Wingdings" panose="05000000000000000000" pitchFamily="2" charset="2"/>
              <a:buChar char="v"/>
              <a:tabLst>
                <a:tab pos="182245" algn="l"/>
              </a:tabLst>
            </a:pPr>
            <a:r>
              <a:rPr lang="en-US" altLang="en-US" sz="1600" b="1" dirty="0">
                <a:latin typeface="Times New Roman" panose="02020603050405020304" pitchFamily="18" charset="0"/>
                <a:cs typeface="Times New Roman" panose="02020603050405020304" pitchFamily="18" charset="0"/>
              </a:rPr>
              <a:t>Proxy Attendance: </a:t>
            </a:r>
            <a:r>
              <a:rPr lang="en-US" altLang="en-US" sz="1600" dirty="0">
                <a:latin typeface="Times New Roman" panose="02020603050405020304" pitchFamily="18" charset="0"/>
                <a:cs typeface="Times New Roman" panose="02020603050405020304" pitchFamily="18" charset="0"/>
              </a:rPr>
              <a:t>Card sharing and fingerprint spoofing allow dishonest attendance marking.</a:t>
            </a:r>
          </a:p>
          <a:p>
            <a:pPr marL="263525" indent="-263525" algn="just">
              <a:lnSpc>
                <a:spcPct val="150000"/>
              </a:lnSpc>
              <a:spcBef>
                <a:spcPts val="100"/>
              </a:spcBef>
              <a:buFont typeface="Wingdings" panose="05000000000000000000" pitchFamily="2" charset="2"/>
              <a:buChar char="v"/>
              <a:tabLst>
                <a:tab pos="182245" algn="l"/>
              </a:tabLst>
            </a:pPr>
            <a:r>
              <a:rPr lang="en-US" altLang="en-US" sz="1600" b="1" dirty="0">
                <a:latin typeface="Times New Roman" panose="02020603050405020304" pitchFamily="18" charset="0"/>
                <a:cs typeface="Times New Roman" panose="02020603050405020304" pitchFamily="18" charset="0"/>
              </a:rPr>
              <a:t>No Real-Time Monitoring: </a:t>
            </a:r>
            <a:r>
              <a:rPr lang="en-US" altLang="en-US" sz="1600" dirty="0">
                <a:latin typeface="Times New Roman" panose="02020603050405020304" pitchFamily="18" charset="0"/>
                <a:cs typeface="Times New Roman" panose="02020603050405020304" pitchFamily="18" charset="0"/>
              </a:rPr>
              <a:t>Lack of continuous verification and supervision during attendance.</a:t>
            </a:r>
          </a:p>
          <a:p>
            <a:pPr marL="263525" indent="-263525" algn="just">
              <a:lnSpc>
                <a:spcPct val="150000"/>
              </a:lnSpc>
              <a:spcBef>
                <a:spcPts val="100"/>
              </a:spcBef>
              <a:buFont typeface="Wingdings" panose="05000000000000000000" pitchFamily="2" charset="2"/>
              <a:buChar char="v"/>
              <a:tabLst>
                <a:tab pos="182245" algn="l"/>
              </a:tabLst>
            </a:pPr>
            <a:r>
              <a:rPr lang="en-US" altLang="en-US" sz="1600" b="1" dirty="0">
                <a:latin typeface="Times New Roman" panose="02020603050405020304" pitchFamily="18" charset="0"/>
                <a:cs typeface="Times New Roman" panose="02020603050405020304" pitchFamily="18" charset="0"/>
              </a:rPr>
              <a:t>Inefficient Record Management: </a:t>
            </a:r>
            <a:r>
              <a:rPr lang="en-US" altLang="en-US" sz="1600" dirty="0">
                <a:latin typeface="Times New Roman" panose="02020603050405020304" pitchFamily="18" charset="0"/>
                <a:cs typeface="Times New Roman" panose="02020603050405020304" pitchFamily="18" charset="0"/>
              </a:rPr>
              <a:t>Manual or semi-automated record keeping is error-prone and hard to analyze.</a:t>
            </a:r>
          </a:p>
          <a:p>
            <a:pPr marL="263525" indent="-263525" algn="just">
              <a:lnSpc>
                <a:spcPct val="150000"/>
              </a:lnSpc>
              <a:spcBef>
                <a:spcPts val="100"/>
              </a:spcBef>
              <a:buFont typeface="Wingdings" panose="05000000000000000000" pitchFamily="2" charset="2"/>
              <a:buChar char="v"/>
              <a:tabLst>
                <a:tab pos="182245" algn="l"/>
              </a:tabLst>
            </a:pPr>
            <a:r>
              <a:rPr lang="en-US" altLang="en-US" sz="1600" b="1" dirty="0">
                <a:latin typeface="Times New Roman" panose="02020603050405020304" pitchFamily="18" charset="0"/>
                <a:cs typeface="Times New Roman" panose="02020603050405020304" pitchFamily="18" charset="0"/>
              </a:rPr>
              <a:t>Low Scalability: </a:t>
            </a:r>
            <a:r>
              <a:rPr lang="en-US" altLang="en-US" sz="1600" dirty="0">
                <a:latin typeface="Times New Roman" panose="02020603050405020304" pitchFamily="18" charset="0"/>
                <a:cs typeface="Times New Roman" panose="02020603050405020304" pitchFamily="18" charset="0"/>
              </a:rPr>
              <a:t>Difficult to implement effectively in large classrooms or institutions.</a:t>
            </a:r>
          </a:p>
        </p:txBody>
      </p:sp>
      <p:cxnSp>
        <p:nvCxnSpPr>
          <p:cNvPr id="11" name="Straight Connector 10"/>
          <p:cNvCxnSpPr/>
          <p:nvPr/>
        </p:nvCxnSpPr>
        <p:spPr>
          <a:xfrm>
            <a:off x="685800" y="1676400"/>
            <a:ext cx="10277883" cy="0"/>
          </a:xfrm>
          <a:prstGeom prst="line">
            <a:avLst/>
          </a:prstGeom>
          <a:ln w="9525" cap="flat" cmpd="sng" algn="ctr">
            <a:solidFill>
              <a:schemeClr val="bg1">
                <a:lumMod val="75000"/>
              </a:schemeClr>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67691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p:cNvSpPr txBox="1">
            <a:spLocks noGrp="1"/>
          </p:cNvSpPr>
          <p:nvPr>
            <p:ph type="title"/>
          </p:nvPr>
        </p:nvSpPr>
        <p:spPr>
          <a:xfrm>
            <a:off x="596342" y="1077749"/>
            <a:ext cx="10527588" cy="522451"/>
          </a:xfrm>
          <a:prstGeom prst="rect">
            <a:avLst/>
          </a:prstGeom>
        </p:spPr>
        <p:txBody>
          <a:bodyPr vert="horz" wrap="square" lIns="0" tIns="151638" rIns="0" bIns="0" rtlCol="0">
            <a:spAutoFit/>
          </a:bodyPr>
          <a:lstStyle/>
          <a:p>
            <a:pPr marL="109220">
              <a:lnSpc>
                <a:spcPct val="100000"/>
              </a:lnSpc>
              <a:spcBef>
                <a:spcPts val="100"/>
              </a:spcBef>
            </a:pPr>
            <a:r>
              <a:rPr lang="en-IN" sz="2400" spc="-10" dirty="0">
                <a:latin typeface="Times New Roman" panose="02020603050405020304" pitchFamily="18" charset="0"/>
                <a:cs typeface="Times New Roman" panose="02020603050405020304" pitchFamily="18" charset="0"/>
              </a:rPr>
              <a:t>PROPOSED SYSTEM</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9" name="object 4"/>
          <p:cNvSpPr txBox="1"/>
          <p:nvPr/>
        </p:nvSpPr>
        <p:spPr>
          <a:xfrm>
            <a:off x="802996" y="1599062"/>
            <a:ext cx="10703204" cy="4906645"/>
          </a:xfrm>
          <a:prstGeom prst="rect">
            <a:avLst/>
          </a:prstGeom>
        </p:spPr>
        <p:txBody>
          <a:bodyPr vert="horz" wrap="square" lIns="0" tIns="12700" rIns="0" bIns="0" rtlCol="0">
            <a:spAutoFit/>
          </a:bodyPr>
          <a:lstStyle/>
          <a:p>
            <a:pPr marL="15875" algn="just">
              <a:lnSpc>
                <a:spcPct val="138000"/>
              </a:lnSpc>
              <a:spcBef>
                <a:spcPts val="100"/>
              </a:spcBef>
            </a:pPr>
            <a:r>
              <a:rPr lang="en-US" altLang="en-US" sz="1600" dirty="0">
                <a:latin typeface="Times New Roman" panose="02020603050405020304" pitchFamily="18" charset="0"/>
                <a:cs typeface="Times New Roman" panose="02020603050405020304" pitchFamily="18" charset="0"/>
              </a:rPr>
              <a:t>The proposed system introduces an AI-powered automated attendance solution using CCTV cameras and facial recognition technology. Classroom cameras capture real-time video, and AI algorithms detect and recognize student faces automatically. Attendance is marked instantly and stored securely in a centralized digital database, eliminating manual intervention. The system prevents proxy attendance by verifying identities continuously, enhances accuracy, and allows easy access to attendance records and reports for faculty and administrators. Built with Python and OpenCV for face recognition, Flask/Django backend, React.js frontend, and MySQL/MongoDB for data storage, the system is scalable, efficient, and secure.</a:t>
            </a:r>
          </a:p>
          <a:p>
            <a:pPr marL="15875" algn="just">
              <a:lnSpc>
                <a:spcPct val="138000"/>
              </a:lnSpc>
              <a:spcBef>
                <a:spcPts val="100"/>
              </a:spcBef>
            </a:pPr>
            <a:r>
              <a:rPr lang="en-US" altLang="en-US" b="1" dirty="0">
                <a:latin typeface="Times New Roman" panose="02020603050405020304" pitchFamily="18" charset="0"/>
                <a:cs typeface="Times New Roman" panose="02020603050405020304" pitchFamily="18" charset="0"/>
              </a:rPr>
              <a:t>Advantages:</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Automated Attendance</a:t>
            </a:r>
            <a:r>
              <a:rPr lang="en-US" altLang="en-US" sz="1600" dirty="0">
                <a:latin typeface="Times New Roman" panose="02020603050405020304" pitchFamily="18" charset="0"/>
                <a:cs typeface="Times New Roman" panose="02020603050405020304" pitchFamily="18" charset="0"/>
              </a:rPr>
              <a:t>: Eliminates manual roll calls, saving classroom time.</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Contactless Identification: </a:t>
            </a:r>
            <a:r>
              <a:rPr lang="en-US" altLang="en-US" sz="1600" dirty="0">
                <a:latin typeface="Times New Roman" panose="02020603050405020304" pitchFamily="18" charset="0"/>
                <a:cs typeface="Times New Roman" panose="02020603050405020304" pitchFamily="18" charset="0"/>
              </a:rPr>
              <a:t>Uses facial recognition without physical interaction.</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Proxy Prevention: </a:t>
            </a:r>
            <a:r>
              <a:rPr lang="en-US" altLang="en-US" sz="1600" dirty="0">
                <a:latin typeface="Times New Roman" panose="02020603050405020304" pitchFamily="18" charset="0"/>
                <a:cs typeface="Times New Roman" panose="02020603050405020304" pitchFamily="18" charset="0"/>
              </a:rPr>
              <a:t>Detects and prevents proxy attendance in real time.</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Continuous Monitoring: </a:t>
            </a:r>
            <a:r>
              <a:rPr lang="en-US" altLang="en-US" sz="1600" dirty="0">
                <a:latin typeface="Times New Roman" panose="02020603050405020304" pitchFamily="18" charset="0"/>
                <a:cs typeface="Times New Roman" panose="02020603050405020304" pitchFamily="18" charset="0"/>
              </a:rPr>
              <a:t>Ensures students remain present during sessions.</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Accurate Record Keeping: </a:t>
            </a:r>
            <a:r>
              <a:rPr lang="en-US" altLang="en-US" sz="1600" dirty="0">
                <a:latin typeface="Times New Roman" panose="02020603050405020304" pitchFamily="18" charset="0"/>
                <a:cs typeface="Times New Roman" panose="02020603050405020304" pitchFamily="18" charset="0"/>
              </a:rPr>
              <a:t>Automatically updates and manages attendance data securely.</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Easy Access &amp; Reporting: </a:t>
            </a:r>
            <a:r>
              <a:rPr lang="en-US" altLang="en-US" sz="1600" dirty="0">
                <a:latin typeface="Times New Roman" panose="02020603050405020304" pitchFamily="18" charset="0"/>
                <a:cs typeface="Times New Roman" panose="02020603050405020304" pitchFamily="18" charset="0"/>
              </a:rPr>
              <a:t>Provides intuitive interfaces for faculty and admins to review attendance.</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Scalable &amp; Secure: </a:t>
            </a:r>
            <a:r>
              <a:rPr lang="en-US" altLang="en-US" sz="1600" dirty="0">
                <a:latin typeface="Times New Roman" panose="02020603050405020304" pitchFamily="18" charset="0"/>
                <a:cs typeface="Times New Roman" panose="02020603050405020304" pitchFamily="18" charset="0"/>
              </a:rPr>
              <a:t>Suitable for small to large educational institutions with strong data protection.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67691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p:cNvSpPr txBox="1">
            <a:spLocks noGrp="1"/>
          </p:cNvSpPr>
          <p:nvPr>
            <p:ph type="title"/>
          </p:nvPr>
        </p:nvSpPr>
        <p:spPr>
          <a:xfrm>
            <a:off x="596342" y="1077749"/>
            <a:ext cx="10527588" cy="522451"/>
          </a:xfrm>
          <a:prstGeom prst="rect">
            <a:avLst/>
          </a:prstGeom>
        </p:spPr>
        <p:txBody>
          <a:bodyPr vert="horz" wrap="square" lIns="0" tIns="151638" rIns="0" bIns="0" rtlCol="0">
            <a:spAutoFit/>
          </a:bodyPr>
          <a:lstStyle/>
          <a:p>
            <a:pPr marL="109220">
              <a:lnSpc>
                <a:spcPct val="100000"/>
              </a:lnSpc>
              <a:spcBef>
                <a:spcPts val="100"/>
              </a:spcBef>
            </a:pPr>
            <a:r>
              <a:rPr lang="en-IN" sz="2400" spc="-10" dirty="0">
                <a:latin typeface="Times New Roman" panose="02020603050405020304" pitchFamily="18" charset="0"/>
                <a:cs typeface="Times New Roman" panose="02020603050405020304" pitchFamily="18" charset="0"/>
              </a:rPr>
              <a:t>SYSTEM SPECIFICATIONS</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9" name="object 4"/>
          <p:cNvSpPr txBox="1"/>
          <p:nvPr/>
        </p:nvSpPr>
        <p:spPr>
          <a:xfrm>
            <a:off x="879196" y="1668815"/>
            <a:ext cx="10703204" cy="4198585"/>
          </a:xfrm>
          <a:prstGeom prst="rect">
            <a:avLst/>
          </a:prstGeom>
        </p:spPr>
        <p:txBody>
          <a:bodyPr vert="horz" wrap="square" lIns="0" tIns="12700" rIns="0" bIns="0" rtlCol="0">
            <a:spAutoFit/>
          </a:bodyPr>
          <a:lstStyle/>
          <a:p>
            <a:pPr marL="342900" indent="-342900">
              <a:buAutoNum type="arabicPeriod"/>
            </a:pPr>
            <a:r>
              <a:rPr lang="en-IN" sz="1600" b="1" dirty="0">
                <a:latin typeface="Times New Roman" panose="02020603050405020304" pitchFamily="18" charset="0"/>
                <a:cs typeface="Times New Roman" panose="02020603050405020304" pitchFamily="18" charset="0"/>
              </a:rPr>
              <a:t>Hardware Requirements</a:t>
            </a:r>
            <a:r>
              <a:rPr lang="en-IN" sz="1600" dirty="0">
                <a:latin typeface="Times New Roman" panose="02020603050405020304" pitchFamily="18" charset="0"/>
                <a:cs typeface="Times New Roman" panose="02020603050405020304" pitchFamily="18" charset="0"/>
              </a:rPr>
              <a:t> </a:t>
            </a:r>
          </a:p>
          <a:p>
            <a:pPr indent="361950"/>
            <a:r>
              <a:rPr lang="en-IN" sz="1600" dirty="0">
                <a:latin typeface="Times New Roman" panose="02020603050405020304" pitchFamily="18" charset="0"/>
                <a:cs typeface="Times New Roman" panose="02020603050405020304" pitchFamily="18" charset="0"/>
              </a:rPr>
              <a:t>• Processor: Intel Core i5 (8th Gen) / AMD </a:t>
            </a:r>
            <a:r>
              <a:rPr lang="en-IN" sz="1600" dirty="0" err="1">
                <a:latin typeface="Times New Roman" panose="02020603050405020304" pitchFamily="18" charset="0"/>
                <a:cs typeface="Times New Roman" panose="02020603050405020304" pitchFamily="18" charset="0"/>
              </a:rPr>
              <a:t>Ryzen</a:t>
            </a:r>
            <a:r>
              <a:rPr lang="en-IN" sz="1600" dirty="0">
                <a:latin typeface="Times New Roman" panose="02020603050405020304" pitchFamily="18" charset="0"/>
                <a:cs typeface="Times New Roman" panose="02020603050405020304" pitchFamily="18" charset="0"/>
              </a:rPr>
              <a:t> 5 or higher </a:t>
            </a:r>
          </a:p>
          <a:p>
            <a:pPr indent="361950"/>
            <a:r>
              <a:rPr lang="en-IN" sz="1600" dirty="0">
                <a:latin typeface="Times New Roman" panose="02020603050405020304" pitchFamily="18" charset="0"/>
                <a:cs typeface="Times New Roman" panose="02020603050405020304" pitchFamily="18" charset="0"/>
              </a:rPr>
              <a:t>• RAM: Minimum 8 GB (16 GB recommended for AI processing) </a:t>
            </a:r>
          </a:p>
          <a:p>
            <a:pPr indent="361950"/>
            <a:r>
              <a:rPr lang="en-IN" sz="1600" dirty="0">
                <a:latin typeface="Times New Roman" panose="02020603050405020304" pitchFamily="18" charset="0"/>
                <a:cs typeface="Times New Roman" panose="02020603050405020304" pitchFamily="18" charset="0"/>
              </a:rPr>
              <a:t>• Storage: 256 GB SSD (for fast database and image retrieval)</a:t>
            </a:r>
          </a:p>
          <a:p>
            <a:pPr indent="361950"/>
            <a:r>
              <a:rPr lang="en-IN" sz="1600" dirty="0">
                <a:latin typeface="Times New Roman" panose="02020603050405020304" pitchFamily="18" charset="0"/>
                <a:cs typeface="Times New Roman" panose="02020603050405020304" pitchFamily="18" charset="0"/>
              </a:rPr>
              <a:t>• Camera: Standard 720p/1080p HD Webcam or IP CCTV Camera</a:t>
            </a:r>
          </a:p>
          <a:p>
            <a:r>
              <a:rPr lang="en-IN" sz="1600" b="1" dirty="0">
                <a:latin typeface="Times New Roman" panose="02020603050405020304" pitchFamily="18" charset="0"/>
                <a:cs typeface="Times New Roman" panose="02020603050405020304" pitchFamily="18" charset="0"/>
              </a:rPr>
              <a:t>2. Software Requirements</a:t>
            </a:r>
          </a:p>
          <a:p>
            <a:pPr indent="361950"/>
            <a:r>
              <a:rPr lang="en-IN" sz="1600" dirty="0">
                <a:latin typeface="Times New Roman" panose="02020603050405020304" pitchFamily="18" charset="0"/>
                <a:cs typeface="Times New Roman" panose="02020603050405020304" pitchFamily="18" charset="0"/>
              </a:rPr>
              <a:t>• Operating System: Windows 10/11, macOS, or Linux (Ubuntu) </a:t>
            </a:r>
          </a:p>
          <a:p>
            <a:pPr indent="361950"/>
            <a:r>
              <a:rPr lang="en-IN" sz="1600" dirty="0">
                <a:latin typeface="Times New Roman" panose="02020603050405020304" pitchFamily="18" charset="0"/>
                <a:cs typeface="Times New Roman" panose="02020603050405020304" pitchFamily="18" charset="0"/>
              </a:rPr>
              <a:t>• Programming Language: Python 3.10+ </a:t>
            </a:r>
          </a:p>
          <a:p>
            <a:pPr indent="361950"/>
            <a:r>
              <a:rPr lang="en-IN" sz="1600" dirty="0">
                <a:latin typeface="Times New Roman" panose="02020603050405020304" pitchFamily="18" charset="0"/>
                <a:cs typeface="Times New Roman" panose="02020603050405020304" pitchFamily="18" charset="0"/>
              </a:rPr>
              <a:t>• Web Technologies: HTML5, CSS3, JavaScript (React.js) </a:t>
            </a:r>
          </a:p>
          <a:p>
            <a:pPr indent="361950"/>
            <a:r>
              <a:rPr lang="en-IN" sz="1600" dirty="0">
                <a:latin typeface="Times New Roman" panose="02020603050405020304" pitchFamily="18" charset="0"/>
                <a:cs typeface="Times New Roman" panose="02020603050405020304" pitchFamily="18" charset="0"/>
              </a:rPr>
              <a:t>• Framework: Flask (Python Backend)</a:t>
            </a:r>
          </a:p>
          <a:p>
            <a:r>
              <a:rPr lang="en-IN" sz="1600" b="1" dirty="0">
                <a:latin typeface="Times New Roman" panose="02020603050405020304" pitchFamily="18" charset="0"/>
                <a:cs typeface="Times New Roman" panose="02020603050405020304" pitchFamily="18" charset="0"/>
              </a:rPr>
              <a:t>3. AI &amp; Deep Learning Stack</a:t>
            </a:r>
            <a:r>
              <a:rPr lang="en-IN" sz="1600" dirty="0">
                <a:latin typeface="Times New Roman" panose="02020603050405020304" pitchFamily="18" charset="0"/>
                <a:cs typeface="Times New Roman" panose="02020603050405020304" pitchFamily="18" charset="0"/>
              </a:rPr>
              <a:t> </a:t>
            </a:r>
          </a:p>
          <a:p>
            <a:pPr indent="361950"/>
            <a:r>
              <a:rPr lang="en-IN" sz="1600" dirty="0">
                <a:latin typeface="Times New Roman" panose="02020603050405020304" pitchFamily="18" charset="0"/>
                <a:cs typeface="Times New Roman" panose="02020603050405020304" pitchFamily="18" charset="0"/>
              </a:rPr>
              <a:t>• Core AI Environment: TensorFlow &amp; </a:t>
            </a:r>
            <a:r>
              <a:rPr lang="en-IN" sz="1600" dirty="0" err="1">
                <a:latin typeface="Times New Roman" panose="02020603050405020304" pitchFamily="18" charset="0"/>
                <a:cs typeface="Times New Roman" panose="02020603050405020304" pitchFamily="18" charset="0"/>
              </a:rPr>
              <a:t>Keras</a:t>
            </a:r>
            <a:r>
              <a:rPr lang="en-IN" sz="1600" dirty="0">
                <a:latin typeface="Times New Roman" panose="02020603050405020304" pitchFamily="18" charset="0"/>
                <a:cs typeface="Times New Roman" panose="02020603050405020304" pitchFamily="18" charset="0"/>
              </a:rPr>
              <a:t> </a:t>
            </a:r>
          </a:p>
          <a:p>
            <a:pPr indent="361950"/>
            <a:r>
              <a:rPr lang="en-IN" sz="1600" dirty="0">
                <a:latin typeface="Times New Roman" panose="02020603050405020304" pitchFamily="18" charset="0"/>
                <a:cs typeface="Times New Roman" panose="02020603050405020304" pitchFamily="18" charset="0"/>
              </a:rPr>
              <a:t>• Computer Vision Library: OpenCV (Open Source Computer Vision) </a:t>
            </a:r>
          </a:p>
          <a:p>
            <a:pPr indent="361950"/>
            <a:r>
              <a:rPr lang="en-IN" sz="1600" dirty="0">
                <a:latin typeface="Times New Roman" panose="02020603050405020304" pitchFamily="18" charset="0"/>
                <a:cs typeface="Times New Roman" panose="02020603050405020304" pitchFamily="18" charset="0"/>
              </a:rPr>
              <a:t>• Face Recognition: </a:t>
            </a:r>
            <a:r>
              <a:rPr lang="en-IN" sz="1600" dirty="0" err="1">
                <a:latin typeface="Times New Roman" panose="02020603050405020304" pitchFamily="18" charset="0"/>
                <a:cs typeface="Times New Roman" panose="02020603050405020304" pitchFamily="18" charset="0"/>
              </a:rPr>
              <a:t>dlib</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face_recognition</a:t>
            </a:r>
            <a:r>
              <a:rPr lang="en-IN" sz="1600" dirty="0">
                <a:latin typeface="Times New Roman" panose="02020603050405020304" pitchFamily="18" charset="0"/>
                <a:cs typeface="Times New Roman" panose="02020603050405020304" pitchFamily="18" charset="0"/>
              </a:rPr>
              <a:t> API</a:t>
            </a:r>
          </a:p>
          <a:p>
            <a:r>
              <a:rPr lang="en-IN" sz="1600" b="1" dirty="0">
                <a:latin typeface="Times New Roman" panose="02020603050405020304" pitchFamily="18" charset="0"/>
                <a:cs typeface="Times New Roman" panose="02020603050405020304" pitchFamily="18" charset="0"/>
              </a:rPr>
              <a:t>4. Database Management</a:t>
            </a:r>
            <a:r>
              <a:rPr lang="en-IN" sz="1600" dirty="0">
                <a:latin typeface="Times New Roman" panose="02020603050405020304" pitchFamily="18" charset="0"/>
                <a:cs typeface="Times New Roman" panose="02020603050405020304" pitchFamily="18" charset="0"/>
              </a:rPr>
              <a:t> </a:t>
            </a:r>
          </a:p>
          <a:p>
            <a:pPr indent="361950"/>
            <a:r>
              <a:rPr lang="en-IN" sz="1600" dirty="0">
                <a:latin typeface="Times New Roman" panose="02020603050405020304" pitchFamily="18" charset="0"/>
                <a:cs typeface="Times New Roman" panose="02020603050405020304" pitchFamily="18" charset="0"/>
              </a:rPr>
              <a:t>• Runtime Database: SQLite 3 (Central Attendance Records) </a:t>
            </a:r>
          </a:p>
          <a:p>
            <a:pPr indent="361950"/>
            <a:r>
              <a:rPr lang="en-IN" sz="1600" dirty="0">
                <a:latin typeface="Times New Roman" panose="02020603050405020304" pitchFamily="18" charset="0"/>
                <a:cs typeface="Times New Roman" panose="02020603050405020304" pitchFamily="18" charset="0"/>
              </a:rPr>
              <a:t>• Vector Storage: Pickle (.</a:t>
            </a:r>
            <a:r>
              <a:rPr lang="en-IN" sz="1600" dirty="0" err="1">
                <a:latin typeface="Times New Roman" panose="02020603050405020304" pitchFamily="18" charset="0"/>
                <a:cs typeface="Times New Roman" panose="02020603050405020304" pitchFamily="18" charset="0"/>
              </a:rPr>
              <a:t>pkl</a:t>
            </a:r>
            <a:r>
              <a:rPr lang="en-IN" sz="1600" dirty="0">
                <a:latin typeface="Times New Roman" panose="02020603050405020304" pitchFamily="18" charset="0"/>
                <a:cs typeface="Times New Roman" panose="02020603050405020304" pitchFamily="18" charset="0"/>
              </a:rPr>
              <a:t>) for serialized face embeddings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67691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p:cNvSpPr txBox="1">
            <a:spLocks noGrp="1"/>
          </p:cNvSpPr>
          <p:nvPr>
            <p:ph type="title"/>
          </p:nvPr>
        </p:nvSpPr>
        <p:spPr>
          <a:xfrm>
            <a:off x="596342" y="1077749"/>
            <a:ext cx="10527588" cy="522451"/>
          </a:xfrm>
          <a:prstGeom prst="rect">
            <a:avLst/>
          </a:prstGeom>
        </p:spPr>
        <p:txBody>
          <a:bodyPr vert="horz" wrap="square" lIns="0" tIns="151638" rIns="0" bIns="0" rtlCol="0">
            <a:spAutoFit/>
          </a:bodyPr>
          <a:lstStyle/>
          <a:p>
            <a:pPr marL="109220">
              <a:lnSpc>
                <a:spcPct val="100000"/>
              </a:lnSpc>
              <a:spcBef>
                <a:spcPts val="100"/>
              </a:spcBef>
            </a:pPr>
            <a:r>
              <a:rPr lang="en-IN" sz="2400" spc="-10" dirty="0">
                <a:latin typeface="Times New Roman" panose="02020603050405020304" pitchFamily="18" charset="0"/>
                <a:cs typeface="Times New Roman" panose="02020603050405020304" pitchFamily="18" charset="0"/>
              </a:rPr>
              <a:t>SYSTEM ARCHITECTURE</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pic>
        <p:nvPicPr>
          <p:cNvPr id="2" name="Picture 1" descr="WhatsApp Image 2026-03-30 at 11.12.48 PM"/>
          <p:cNvPicPr>
            <a:picLocks noChangeAspect="1"/>
          </p:cNvPicPr>
          <p:nvPr/>
        </p:nvPicPr>
        <p:blipFill>
          <a:blip r:embed="rId2"/>
          <a:stretch>
            <a:fillRect/>
          </a:stretch>
        </p:blipFill>
        <p:spPr>
          <a:xfrm>
            <a:off x="1066800" y="1656715"/>
            <a:ext cx="10134600" cy="45796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67691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p:cNvSpPr txBox="1">
            <a:spLocks noGrp="1"/>
          </p:cNvSpPr>
          <p:nvPr>
            <p:ph type="title"/>
          </p:nvPr>
        </p:nvSpPr>
        <p:spPr>
          <a:xfrm>
            <a:off x="596342" y="1077749"/>
            <a:ext cx="10527588" cy="522451"/>
          </a:xfrm>
          <a:prstGeom prst="rect">
            <a:avLst/>
          </a:prstGeom>
        </p:spPr>
        <p:txBody>
          <a:bodyPr vert="horz" wrap="square" lIns="0" tIns="151638" rIns="0" bIns="0" rtlCol="0">
            <a:spAutoFit/>
          </a:bodyPr>
          <a:lstStyle/>
          <a:p>
            <a:pPr marL="109220">
              <a:lnSpc>
                <a:spcPct val="100000"/>
              </a:lnSpc>
              <a:spcBef>
                <a:spcPts val="100"/>
              </a:spcBef>
            </a:pPr>
            <a:r>
              <a:rPr lang="en-IN" sz="2400" spc="-10" dirty="0">
                <a:latin typeface="Times New Roman" panose="02020603050405020304" pitchFamily="18" charset="0"/>
                <a:cs typeface="Times New Roman" panose="02020603050405020304" pitchFamily="18" charset="0"/>
              </a:rPr>
              <a:t>MODULES</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9" name="object 4"/>
          <p:cNvSpPr txBox="1"/>
          <p:nvPr/>
        </p:nvSpPr>
        <p:spPr>
          <a:xfrm>
            <a:off x="1031596" y="1676400"/>
            <a:ext cx="4454804" cy="3706143"/>
          </a:xfrm>
          <a:prstGeom prst="rect">
            <a:avLst/>
          </a:prstGeom>
        </p:spPr>
        <p:txBody>
          <a:bodyPr vert="horz" wrap="square" lIns="0" tIns="12700" rIns="0" bIns="0" numCol="1" rtlCol="0">
            <a:spAutoFit/>
          </a:bodyPr>
          <a:lstStyle/>
          <a:p>
            <a:pPr algn="just"/>
            <a:r>
              <a:rPr lang="en-IN" sz="1600" b="1" dirty="0">
                <a:latin typeface="Times New Roman" panose="02020603050405020304" pitchFamily="18" charset="0"/>
                <a:cs typeface="Times New Roman" panose="02020603050405020304" pitchFamily="18" charset="0"/>
              </a:rPr>
              <a:t>1. Admin/Faculty Module</a:t>
            </a:r>
            <a:r>
              <a:rPr lang="en-IN" sz="1600" dirty="0">
                <a:latin typeface="Times New Roman" panose="02020603050405020304" pitchFamily="18" charset="0"/>
                <a:cs typeface="Times New Roman" panose="02020603050405020304" pitchFamily="18" charset="0"/>
              </a:rPr>
              <a:t> </a:t>
            </a:r>
          </a:p>
          <a:p>
            <a:pPr marL="361950" indent="85725"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Manage student enrolment databases </a:t>
            </a:r>
          </a:p>
          <a:p>
            <a:pPr marL="361950" indent="85725"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Configure 60-minute class periods and 10-  </a:t>
            </a:r>
          </a:p>
          <a:p>
            <a:pPr marL="361950" indent="85725"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minute grace rules </a:t>
            </a:r>
          </a:p>
          <a:p>
            <a:pPr marL="361950" indent="85725"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Mark manual attendance overrides </a:t>
            </a:r>
          </a:p>
          <a:p>
            <a:pPr marL="361950" indent="85725"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Monitor real-time classroom statistics</a:t>
            </a:r>
          </a:p>
          <a:p>
            <a:pPr algn="just"/>
            <a:r>
              <a:rPr lang="en-IN" sz="1600" b="1" dirty="0">
                <a:latin typeface="Times New Roman" panose="02020603050405020304" pitchFamily="18" charset="0"/>
                <a:cs typeface="Times New Roman" panose="02020603050405020304" pitchFamily="18" charset="0"/>
              </a:rPr>
              <a:t>2. Student Module</a:t>
            </a:r>
            <a:r>
              <a:rPr lang="en-IN" sz="1600" dirty="0">
                <a:latin typeface="Times New Roman" panose="02020603050405020304" pitchFamily="18" charset="0"/>
                <a:cs typeface="Times New Roman" panose="02020603050405020304" pitchFamily="18" charset="0"/>
              </a:rPr>
              <a:t> </a:t>
            </a:r>
          </a:p>
          <a:p>
            <a:pPr marL="285750" indent="7620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Student login and profile update </a:t>
            </a:r>
          </a:p>
          <a:p>
            <a:pPr marL="285750" indent="7620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Register facial data for AI recognition </a:t>
            </a:r>
          </a:p>
          <a:p>
            <a:pPr marL="285750" indent="7620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View personal attendance percentages </a:t>
            </a:r>
          </a:p>
          <a:p>
            <a:pPr marL="285750" indent="7620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Access historical attendance records</a:t>
            </a:r>
          </a:p>
          <a:p>
            <a:pPr algn="just"/>
            <a:r>
              <a:rPr lang="en-IN" sz="1600" b="1" dirty="0">
                <a:latin typeface="Times New Roman" panose="02020603050405020304" pitchFamily="18" charset="0"/>
                <a:cs typeface="Times New Roman" panose="02020603050405020304" pitchFamily="18" charset="0"/>
              </a:rPr>
              <a:t>3. Camera &amp; Capture Module</a:t>
            </a:r>
            <a:r>
              <a:rPr lang="en-IN" sz="1600" dirty="0">
                <a:latin typeface="Times New Roman" panose="02020603050405020304" pitchFamily="18" charset="0"/>
                <a:cs typeface="Times New Roman" panose="02020603050405020304" pitchFamily="18" charset="0"/>
              </a:rPr>
              <a:t> </a:t>
            </a:r>
          </a:p>
          <a:p>
            <a:pPr indent="266700" algn="just"/>
            <a:r>
              <a:rPr lang="en-IN" sz="1600" dirty="0">
                <a:latin typeface="Times New Roman" panose="02020603050405020304" pitchFamily="18" charset="0"/>
                <a:cs typeface="Times New Roman" panose="02020603050405020304" pitchFamily="18" charset="0"/>
              </a:rPr>
              <a:t>• Continuous real-time video stream processing </a:t>
            </a:r>
          </a:p>
          <a:p>
            <a:pPr indent="266700" algn="just"/>
            <a:r>
              <a:rPr lang="en-IN" sz="1600" dirty="0">
                <a:latin typeface="Times New Roman" panose="02020603050405020304" pitchFamily="18" charset="0"/>
                <a:cs typeface="Times New Roman" panose="02020603050405020304" pitchFamily="18" charset="0"/>
              </a:rPr>
              <a:t>• Automated frame extraction during active periods </a:t>
            </a:r>
          </a:p>
          <a:p>
            <a:pPr indent="266700" algn="just"/>
            <a:r>
              <a:rPr lang="en-IN" sz="1600" dirty="0">
                <a:latin typeface="Times New Roman" panose="02020603050405020304" pitchFamily="18" charset="0"/>
                <a:cs typeface="Times New Roman" panose="02020603050405020304" pitchFamily="18" charset="0"/>
              </a:rPr>
              <a:t>• Secure face isolation and ROI cropping</a:t>
            </a:r>
          </a:p>
        </p:txBody>
      </p:sp>
      <p:sp>
        <p:nvSpPr>
          <p:cNvPr id="3" name="TextBox 2"/>
          <p:cNvSpPr txBox="1"/>
          <p:nvPr/>
        </p:nvSpPr>
        <p:spPr>
          <a:xfrm>
            <a:off x="5902604" y="1676400"/>
            <a:ext cx="5374996" cy="3785652"/>
          </a:xfrm>
          <a:prstGeom prst="rect">
            <a:avLst/>
          </a:prstGeom>
          <a:noFill/>
        </p:spPr>
        <p:txBody>
          <a:bodyPr wrap="square">
            <a:spAutoFit/>
          </a:bodyPr>
          <a:lstStyle/>
          <a:p>
            <a:pPr algn="just"/>
            <a:r>
              <a:rPr lang="en-IN" sz="1600" b="1" dirty="0">
                <a:latin typeface="Times New Roman" panose="02020603050405020304" pitchFamily="18" charset="0"/>
                <a:cs typeface="Times New Roman" panose="02020603050405020304" pitchFamily="18" charset="0"/>
              </a:rPr>
              <a:t>4. AI Recognition Engine Module</a:t>
            </a:r>
            <a:r>
              <a:rPr lang="en-IN" sz="1600" dirty="0">
                <a:latin typeface="Times New Roman" panose="02020603050405020304" pitchFamily="18" charset="0"/>
                <a:cs typeface="Times New Roman" panose="02020603050405020304" pitchFamily="18" charset="0"/>
              </a:rPr>
              <a:t> </a:t>
            </a:r>
          </a:p>
          <a:p>
            <a:pPr indent="361950" algn="just"/>
            <a:r>
              <a:rPr lang="en-IN" sz="1600" dirty="0">
                <a:latin typeface="Times New Roman" panose="02020603050405020304" pitchFamily="18" charset="0"/>
                <a:cs typeface="Times New Roman" panose="02020603050405020304" pitchFamily="18" charset="0"/>
              </a:rPr>
              <a:t>• Automatically detect faces in dynamic classroom </a:t>
            </a:r>
          </a:p>
          <a:p>
            <a:pPr indent="361950" algn="just"/>
            <a:r>
              <a:rPr lang="en-IN" sz="1600" dirty="0">
                <a:latin typeface="Times New Roman" panose="02020603050405020304" pitchFamily="18" charset="0"/>
                <a:cs typeface="Times New Roman" panose="02020603050405020304" pitchFamily="18" charset="0"/>
              </a:rPr>
              <a:t>   environments </a:t>
            </a:r>
          </a:p>
          <a:p>
            <a:pPr indent="361950" algn="just"/>
            <a:r>
              <a:rPr lang="en-IN" sz="1600" dirty="0">
                <a:latin typeface="Times New Roman" panose="02020603050405020304" pitchFamily="18" charset="0"/>
                <a:cs typeface="Times New Roman" panose="02020603050405020304" pitchFamily="18" charset="0"/>
              </a:rPr>
              <a:t>• Generate and compare deep-learning face embeddings </a:t>
            </a:r>
          </a:p>
          <a:p>
            <a:pPr indent="361950" algn="just"/>
            <a:r>
              <a:rPr lang="en-IN" sz="1600" dirty="0">
                <a:latin typeface="Times New Roman" panose="02020603050405020304" pitchFamily="18" charset="0"/>
                <a:cs typeface="Times New Roman" panose="02020603050405020304" pitchFamily="18" charset="0"/>
              </a:rPr>
              <a:t>• Calculate matching confidence scores against the </a:t>
            </a:r>
          </a:p>
          <a:p>
            <a:pPr indent="361950" algn="just"/>
            <a:r>
              <a:rPr lang="en-IN" sz="1600" dirty="0">
                <a:latin typeface="Times New Roman" panose="02020603050405020304" pitchFamily="18" charset="0"/>
                <a:cs typeface="Times New Roman" panose="02020603050405020304" pitchFamily="18" charset="0"/>
              </a:rPr>
              <a:t>   database</a:t>
            </a:r>
          </a:p>
          <a:p>
            <a:pPr algn="just"/>
            <a:r>
              <a:rPr lang="en-IN" sz="1600" b="1" dirty="0">
                <a:latin typeface="Times New Roman" panose="02020603050405020304" pitchFamily="18" charset="0"/>
                <a:cs typeface="Times New Roman" panose="02020603050405020304" pitchFamily="18" charset="0"/>
              </a:rPr>
              <a:t>5. Smart Logic &amp; Processing Module</a:t>
            </a:r>
            <a:r>
              <a:rPr lang="en-IN" sz="1600" dirty="0">
                <a:latin typeface="Times New Roman" panose="02020603050405020304" pitchFamily="18" charset="0"/>
                <a:cs typeface="Times New Roman" panose="02020603050405020304" pitchFamily="18" charset="0"/>
              </a:rPr>
              <a:t> </a:t>
            </a:r>
          </a:p>
          <a:p>
            <a:pPr indent="361950" algn="just"/>
            <a:r>
              <a:rPr lang="en-IN" sz="1600" dirty="0">
                <a:latin typeface="Times New Roman" panose="02020603050405020304" pitchFamily="18" charset="0"/>
                <a:cs typeface="Times New Roman" panose="02020603050405020304" pitchFamily="18" charset="0"/>
              </a:rPr>
              <a:t>• Enforce strict 60-minute period and time-barrier logic </a:t>
            </a:r>
          </a:p>
          <a:p>
            <a:pPr indent="361950" algn="just"/>
            <a:r>
              <a:rPr lang="en-IN" sz="1600" dirty="0">
                <a:latin typeface="Times New Roman" panose="02020603050405020304" pitchFamily="18" charset="0"/>
                <a:cs typeface="Times New Roman" panose="02020603050405020304" pitchFamily="18" charset="0"/>
              </a:rPr>
              <a:t>• Process grace-period exceptions for late arrivals </a:t>
            </a:r>
          </a:p>
          <a:p>
            <a:pPr indent="361950" algn="just"/>
            <a:r>
              <a:rPr lang="en-IN" sz="1600" dirty="0">
                <a:latin typeface="Times New Roman" panose="02020603050405020304" pitchFamily="18" charset="0"/>
                <a:cs typeface="Times New Roman" panose="02020603050405020304" pitchFamily="18" charset="0"/>
              </a:rPr>
              <a:t>• Finalize present/absent status automatically</a:t>
            </a:r>
          </a:p>
          <a:p>
            <a:pPr algn="just"/>
            <a:r>
              <a:rPr lang="en-IN" sz="1600" b="1" dirty="0">
                <a:latin typeface="Times New Roman" panose="02020603050405020304" pitchFamily="18" charset="0"/>
                <a:cs typeface="Times New Roman" panose="02020603050405020304" pitchFamily="18" charset="0"/>
              </a:rPr>
              <a:t>6. Notification &amp; Reports Module</a:t>
            </a:r>
            <a:r>
              <a:rPr lang="en-IN" sz="1600" dirty="0">
                <a:latin typeface="Times New Roman" panose="02020603050405020304" pitchFamily="18" charset="0"/>
                <a:cs typeface="Times New Roman" panose="02020603050405020304" pitchFamily="18" charset="0"/>
              </a:rPr>
              <a:t> </a:t>
            </a:r>
          </a:p>
          <a:p>
            <a:pPr indent="361950" algn="just"/>
            <a:r>
              <a:rPr lang="en-IN" sz="1600" dirty="0">
                <a:latin typeface="Times New Roman" panose="02020603050405020304" pitchFamily="18" charset="0"/>
                <a:cs typeface="Times New Roman" panose="02020603050405020304" pitchFamily="18" charset="0"/>
              </a:rPr>
              <a:t>• Trigger SMS/WhatsApp alerts for proxy flags or  </a:t>
            </a:r>
          </a:p>
          <a:p>
            <a:pPr indent="361950" algn="just"/>
            <a:r>
              <a:rPr lang="en-IN" sz="1600" dirty="0">
                <a:latin typeface="Times New Roman" panose="02020603050405020304" pitchFamily="18" charset="0"/>
                <a:cs typeface="Times New Roman" panose="02020603050405020304" pitchFamily="18" charset="0"/>
              </a:rPr>
              <a:t>   absences </a:t>
            </a:r>
          </a:p>
          <a:p>
            <a:pPr indent="361950" algn="just"/>
            <a:r>
              <a:rPr lang="en-IN" sz="1600" dirty="0">
                <a:latin typeface="Times New Roman" panose="02020603050405020304" pitchFamily="18" charset="0"/>
                <a:cs typeface="Times New Roman" panose="02020603050405020304" pitchFamily="18" charset="0"/>
              </a:rPr>
              <a:t>• Generate granular class attendance analytics </a:t>
            </a:r>
          </a:p>
          <a:p>
            <a:pPr indent="361950" algn="just"/>
            <a:r>
              <a:rPr lang="en-IN" sz="1600" dirty="0">
                <a:latin typeface="Times New Roman" panose="02020603050405020304" pitchFamily="18" charset="0"/>
                <a:cs typeface="Times New Roman" panose="02020603050405020304" pitchFamily="18" charset="0"/>
              </a:rPr>
              <a:t>• Export final attendance logs for academic records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67691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p:cNvSpPr txBox="1">
            <a:spLocks noGrp="1"/>
          </p:cNvSpPr>
          <p:nvPr>
            <p:ph type="title"/>
          </p:nvPr>
        </p:nvSpPr>
        <p:spPr>
          <a:xfrm>
            <a:off x="596342" y="1077749"/>
            <a:ext cx="10527588" cy="522451"/>
          </a:xfrm>
          <a:prstGeom prst="rect">
            <a:avLst/>
          </a:prstGeom>
        </p:spPr>
        <p:txBody>
          <a:bodyPr vert="horz" wrap="square" lIns="0" tIns="151638" rIns="0" bIns="0" rtlCol="0">
            <a:spAutoFit/>
          </a:bodyPr>
          <a:lstStyle/>
          <a:p>
            <a:pPr marL="109220">
              <a:lnSpc>
                <a:spcPct val="100000"/>
              </a:lnSpc>
              <a:spcBef>
                <a:spcPts val="100"/>
              </a:spcBef>
            </a:pPr>
            <a:r>
              <a:rPr lang="en-IN" sz="2400" spc="-10" dirty="0">
                <a:latin typeface="Times New Roman" panose="02020603050405020304" pitchFamily="18" charset="0"/>
                <a:cs typeface="Times New Roman" panose="02020603050405020304" pitchFamily="18" charset="0"/>
              </a:rPr>
              <a:t>UML DIAGRAMS</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2" name="object 3"/>
          <p:cNvSpPr txBox="1"/>
          <p:nvPr/>
        </p:nvSpPr>
        <p:spPr>
          <a:xfrm>
            <a:off x="902412" y="1524000"/>
            <a:ext cx="10527588" cy="458470"/>
          </a:xfrm>
          <a:prstGeom prst="rect">
            <a:avLst/>
          </a:prstGeom>
        </p:spPr>
        <p:txBody>
          <a:bodyPr vert="horz" wrap="square" lIns="0" tIns="151638" rIns="0" bIns="0" rtlCol="0" anchor="t">
            <a:sp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09220">
              <a:spcBef>
                <a:spcPts val="100"/>
              </a:spcBef>
            </a:pPr>
            <a:r>
              <a:rPr lang="en-IN" sz="2000" b="1" spc="-10" dirty="0">
                <a:latin typeface="Times New Roman" panose="02020603050405020304" pitchFamily="18" charset="0"/>
                <a:cs typeface="Times New Roman" panose="02020603050405020304" pitchFamily="18" charset="0"/>
              </a:rPr>
              <a:t>Use-Case diagram</a:t>
            </a:r>
            <a:r>
              <a:rPr lang="en-US" altLang="en-IN" sz="2000" b="1" spc="-10" dirty="0">
                <a:latin typeface="Times New Roman" panose="02020603050405020304" pitchFamily="18" charset="0"/>
                <a:cs typeface="Times New Roman" panose="02020603050405020304" pitchFamily="18" charset="0"/>
              </a:rPr>
              <a:t>:</a:t>
            </a:r>
          </a:p>
        </p:txBody>
      </p:sp>
      <p:pic>
        <p:nvPicPr>
          <p:cNvPr id="3" name="Picture 2" descr="use case"/>
          <p:cNvPicPr>
            <a:picLocks noChangeAspect="1"/>
          </p:cNvPicPr>
          <p:nvPr/>
        </p:nvPicPr>
        <p:blipFill>
          <a:blip r:embed="rId2"/>
          <a:stretch>
            <a:fillRect/>
          </a:stretch>
        </p:blipFill>
        <p:spPr>
          <a:xfrm>
            <a:off x="2095500" y="2017395"/>
            <a:ext cx="8001000" cy="43834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EEF41-7AB7-11C2-028A-81031B4A0DE1}"/>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391C6925-84BE-B27B-6865-77EE3C5ED746}"/>
              </a:ext>
            </a:extLst>
          </p:cNvPr>
          <p:cNvSpPr txBox="1"/>
          <p:nvPr/>
        </p:nvSpPr>
        <p:spPr>
          <a:xfrm>
            <a:off x="832206" y="1143000"/>
            <a:ext cx="10527588" cy="458470"/>
          </a:xfrm>
          <a:prstGeom prst="rect">
            <a:avLst/>
          </a:prstGeom>
        </p:spPr>
        <p:txBody>
          <a:bodyPr vert="horz" wrap="square" lIns="0" tIns="151638" rIns="0" bIns="0" rtlCol="0" anchor="t">
            <a:sp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09220">
              <a:spcBef>
                <a:spcPts val="100"/>
              </a:spcBef>
            </a:pPr>
            <a:r>
              <a:rPr lang="en-IN" sz="2000" b="1" spc="-10" dirty="0">
                <a:latin typeface="Times New Roman" panose="02020603050405020304" pitchFamily="18" charset="0"/>
                <a:cs typeface="Times New Roman" panose="02020603050405020304" pitchFamily="18" charset="0"/>
              </a:rPr>
              <a:t>Class diagram</a:t>
            </a:r>
            <a:r>
              <a:rPr lang="en-US" altLang="en-IN" sz="2000" b="1" spc="-10" dirty="0">
                <a:latin typeface="Times New Roman" panose="02020603050405020304" pitchFamily="18" charset="0"/>
                <a:cs typeface="Times New Roman" panose="02020603050405020304" pitchFamily="18" charset="0"/>
              </a:rPr>
              <a:t>:</a:t>
            </a:r>
          </a:p>
        </p:txBody>
      </p:sp>
      <p:pic>
        <p:nvPicPr>
          <p:cNvPr id="6" name="Picture 5" descr="class diagram">
            <a:extLst>
              <a:ext uri="{FF2B5EF4-FFF2-40B4-BE49-F238E27FC236}">
                <a16:creationId xmlns:a16="http://schemas.microsoft.com/office/drawing/2014/main" id="{B54725BF-9885-48A4-0FB5-4EC11F0A63A0}"/>
              </a:ext>
            </a:extLst>
          </p:cNvPr>
          <p:cNvPicPr>
            <a:picLocks noChangeAspect="1"/>
          </p:cNvPicPr>
          <p:nvPr/>
        </p:nvPicPr>
        <p:blipFill>
          <a:blip r:embed="rId2"/>
          <a:stretch>
            <a:fillRect/>
          </a:stretch>
        </p:blipFill>
        <p:spPr>
          <a:xfrm>
            <a:off x="1847215" y="1690370"/>
            <a:ext cx="8820785" cy="4329430"/>
          </a:xfrm>
          <a:prstGeom prst="rect">
            <a:avLst/>
          </a:prstGeom>
        </p:spPr>
      </p:pic>
    </p:spTree>
    <p:extLst>
      <p:ext uri="{BB962C8B-B14F-4D97-AF65-F5344CB8AC3E}">
        <p14:creationId xmlns:p14="http://schemas.microsoft.com/office/powerpoint/2010/main" val="17193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502CF-8209-C8D2-FDB0-ED71CABE5334}"/>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28AF7BF5-C606-CA52-C60B-97D48D510380}"/>
              </a:ext>
            </a:extLst>
          </p:cNvPr>
          <p:cNvSpPr txBox="1"/>
          <p:nvPr/>
        </p:nvSpPr>
        <p:spPr>
          <a:xfrm>
            <a:off x="832206" y="1143000"/>
            <a:ext cx="10527588" cy="458470"/>
          </a:xfrm>
          <a:prstGeom prst="rect">
            <a:avLst/>
          </a:prstGeom>
        </p:spPr>
        <p:txBody>
          <a:bodyPr vert="horz" wrap="square" lIns="0" tIns="151638" rIns="0" bIns="0" rtlCol="0" anchor="t">
            <a:sp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09220">
              <a:spcBef>
                <a:spcPts val="100"/>
              </a:spcBef>
            </a:pPr>
            <a:r>
              <a:rPr lang="en-IN" sz="2000" b="1" spc="-10" dirty="0">
                <a:latin typeface="Times New Roman" panose="02020603050405020304" pitchFamily="18" charset="0"/>
                <a:cs typeface="Times New Roman" panose="02020603050405020304" pitchFamily="18" charset="0"/>
              </a:rPr>
              <a:t>Sequence diagram</a:t>
            </a:r>
            <a:r>
              <a:rPr lang="en-US" altLang="en-IN" sz="2000" b="1" spc="-10" dirty="0">
                <a:latin typeface="Times New Roman" panose="02020603050405020304" pitchFamily="18" charset="0"/>
                <a:cs typeface="Times New Roman" panose="02020603050405020304" pitchFamily="18" charset="0"/>
              </a:rPr>
              <a:t>:</a:t>
            </a:r>
          </a:p>
        </p:txBody>
      </p:sp>
      <p:pic>
        <p:nvPicPr>
          <p:cNvPr id="3" name="Picture 2" descr="sequence diagram">
            <a:extLst>
              <a:ext uri="{FF2B5EF4-FFF2-40B4-BE49-F238E27FC236}">
                <a16:creationId xmlns:a16="http://schemas.microsoft.com/office/drawing/2014/main" id="{EECE6B65-0818-E7F0-5BB6-FB0A91009197}"/>
              </a:ext>
            </a:extLst>
          </p:cNvPr>
          <p:cNvPicPr>
            <a:picLocks noChangeAspect="1"/>
          </p:cNvPicPr>
          <p:nvPr/>
        </p:nvPicPr>
        <p:blipFill>
          <a:blip r:embed="rId2"/>
          <a:stretch>
            <a:fillRect/>
          </a:stretch>
        </p:blipFill>
        <p:spPr>
          <a:xfrm>
            <a:off x="1371600" y="1616710"/>
            <a:ext cx="9955530" cy="4857115"/>
          </a:xfrm>
          <a:prstGeom prst="rect">
            <a:avLst/>
          </a:prstGeom>
        </p:spPr>
      </p:pic>
    </p:spTree>
    <p:extLst>
      <p:ext uri="{BB962C8B-B14F-4D97-AF65-F5344CB8AC3E}">
        <p14:creationId xmlns:p14="http://schemas.microsoft.com/office/powerpoint/2010/main" val="2848541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40F4A-768B-3F02-2FD7-8B839FC7DB71}"/>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E46907DD-41AE-92B3-285A-5BCE953471C6}"/>
              </a:ext>
            </a:extLst>
          </p:cNvPr>
          <p:cNvSpPr txBox="1"/>
          <p:nvPr/>
        </p:nvSpPr>
        <p:spPr>
          <a:xfrm>
            <a:off x="832206" y="1143000"/>
            <a:ext cx="10527588" cy="458470"/>
          </a:xfrm>
          <a:prstGeom prst="rect">
            <a:avLst/>
          </a:prstGeom>
        </p:spPr>
        <p:txBody>
          <a:bodyPr vert="horz" wrap="square" lIns="0" tIns="151638" rIns="0" bIns="0" rtlCol="0" anchor="t">
            <a:sp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09220">
              <a:spcBef>
                <a:spcPts val="100"/>
              </a:spcBef>
            </a:pPr>
            <a:r>
              <a:rPr lang="en-IN" sz="2000" b="1" spc="-10" dirty="0">
                <a:latin typeface="Times New Roman" panose="02020603050405020304" pitchFamily="18" charset="0"/>
                <a:cs typeface="Times New Roman" panose="02020603050405020304" pitchFamily="18" charset="0"/>
              </a:rPr>
              <a:t>Activity diagram</a:t>
            </a:r>
            <a:r>
              <a:rPr lang="en-US" altLang="en-IN" sz="2000" b="1" spc="-10" dirty="0">
                <a:latin typeface="Times New Roman" panose="02020603050405020304" pitchFamily="18" charset="0"/>
                <a:cs typeface="Times New Roman" panose="02020603050405020304" pitchFamily="18" charset="0"/>
              </a:rPr>
              <a:t>:</a:t>
            </a:r>
          </a:p>
        </p:txBody>
      </p:sp>
      <p:pic>
        <p:nvPicPr>
          <p:cNvPr id="3" name="Picture 2" descr="activity diagram">
            <a:extLst>
              <a:ext uri="{FF2B5EF4-FFF2-40B4-BE49-F238E27FC236}">
                <a16:creationId xmlns:a16="http://schemas.microsoft.com/office/drawing/2014/main" id="{32813CB7-B39A-5716-6CA2-FFF5FA733BCD}"/>
              </a:ext>
            </a:extLst>
          </p:cNvPr>
          <p:cNvPicPr>
            <a:picLocks noChangeAspect="1"/>
          </p:cNvPicPr>
          <p:nvPr/>
        </p:nvPicPr>
        <p:blipFill>
          <a:blip r:embed="rId2"/>
          <a:stretch>
            <a:fillRect/>
          </a:stretch>
        </p:blipFill>
        <p:spPr>
          <a:xfrm>
            <a:off x="3352800" y="685800"/>
            <a:ext cx="5638800" cy="5870575"/>
          </a:xfrm>
          <a:prstGeom prst="rect">
            <a:avLst/>
          </a:prstGeom>
        </p:spPr>
      </p:pic>
    </p:spTree>
    <p:extLst>
      <p:ext uri="{BB962C8B-B14F-4D97-AF65-F5344CB8AC3E}">
        <p14:creationId xmlns:p14="http://schemas.microsoft.com/office/powerpoint/2010/main" val="4194807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48E74-7F67-5CB4-F5F0-1342B3909737}"/>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20ECC2EA-3B48-EF24-5002-3A69B4E41A01}"/>
              </a:ext>
            </a:extLst>
          </p:cNvPr>
          <p:cNvSpPr/>
          <p:nvPr/>
        </p:nvSpPr>
        <p:spPr>
          <a:xfrm>
            <a:off x="67691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a:extLst>
              <a:ext uri="{FF2B5EF4-FFF2-40B4-BE49-F238E27FC236}">
                <a16:creationId xmlns:a16="http://schemas.microsoft.com/office/drawing/2014/main" id="{37B6DB74-B02C-02A4-2F5C-5BC3DB933C6C}"/>
              </a:ext>
            </a:extLst>
          </p:cNvPr>
          <p:cNvSpPr txBox="1">
            <a:spLocks noGrp="1"/>
          </p:cNvSpPr>
          <p:nvPr>
            <p:ph type="title"/>
          </p:nvPr>
        </p:nvSpPr>
        <p:spPr>
          <a:xfrm>
            <a:off x="596342" y="1077749"/>
            <a:ext cx="10527588" cy="522451"/>
          </a:xfrm>
          <a:prstGeom prst="rect">
            <a:avLst/>
          </a:prstGeom>
        </p:spPr>
        <p:txBody>
          <a:bodyPr vert="horz" wrap="square" lIns="0" tIns="151638" rIns="0" bIns="0" rtlCol="0">
            <a:spAutoFit/>
          </a:bodyPr>
          <a:lstStyle/>
          <a:p>
            <a:pPr marL="109220">
              <a:lnSpc>
                <a:spcPct val="100000"/>
              </a:lnSpc>
              <a:spcBef>
                <a:spcPts val="100"/>
              </a:spcBef>
            </a:pPr>
            <a:r>
              <a:rPr lang="en-IN" sz="2400" spc="-10" dirty="0">
                <a:latin typeface="Times New Roman" panose="02020603050405020304" pitchFamily="18" charset="0"/>
                <a:cs typeface="Times New Roman" panose="02020603050405020304" pitchFamily="18" charset="0"/>
              </a:rPr>
              <a:t>OUTPUT SCREENS</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2" name="object 3">
            <a:extLst>
              <a:ext uri="{FF2B5EF4-FFF2-40B4-BE49-F238E27FC236}">
                <a16:creationId xmlns:a16="http://schemas.microsoft.com/office/drawing/2014/main" id="{19E113E0-4EAE-B7EA-9959-91C30162A12F}"/>
              </a:ext>
            </a:extLst>
          </p:cNvPr>
          <p:cNvSpPr txBox="1"/>
          <p:nvPr/>
        </p:nvSpPr>
        <p:spPr>
          <a:xfrm>
            <a:off x="902412" y="1524000"/>
            <a:ext cx="10527588" cy="458470"/>
          </a:xfrm>
          <a:prstGeom prst="rect">
            <a:avLst/>
          </a:prstGeom>
        </p:spPr>
        <p:txBody>
          <a:bodyPr vert="horz" wrap="square" lIns="0" tIns="151638" rIns="0" bIns="0" rtlCol="0" anchor="t">
            <a:sp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09220">
              <a:spcBef>
                <a:spcPts val="100"/>
              </a:spcBef>
            </a:pPr>
            <a:r>
              <a:rPr lang="en-IN" sz="2000" b="1" spc="-10" dirty="0">
                <a:latin typeface="Times New Roman" panose="02020603050405020304" pitchFamily="18" charset="0"/>
                <a:cs typeface="Times New Roman" panose="02020603050405020304" pitchFamily="18" charset="0"/>
              </a:rPr>
              <a:t>Register Page</a:t>
            </a:r>
            <a:r>
              <a:rPr lang="en-US" altLang="en-IN" sz="2000" b="1" spc="-10" dirty="0">
                <a:latin typeface="Times New Roman" panose="02020603050405020304" pitchFamily="18" charset="0"/>
                <a:cs typeface="Times New Roman" panose="02020603050405020304" pitchFamily="18" charset="0"/>
              </a:rPr>
              <a:t>:</a:t>
            </a:r>
          </a:p>
        </p:txBody>
      </p:sp>
      <p:pic>
        <p:nvPicPr>
          <p:cNvPr id="4" name="Picture 3" descr="register page">
            <a:extLst>
              <a:ext uri="{FF2B5EF4-FFF2-40B4-BE49-F238E27FC236}">
                <a16:creationId xmlns:a16="http://schemas.microsoft.com/office/drawing/2014/main" id="{E4727C38-CE7E-10DB-1801-4E371A45A920}"/>
              </a:ext>
            </a:extLst>
          </p:cNvPr>
          <p:cNvPicPr>
            <a:picLocks noChangeAspect="1"/>
          </p:cNvPicPr>
          <p:nvPr/>
        </p:nvPicPr>
        <p:blipFill>
          <a:blip r:embed="rId2"/>
          <a:srcRect l="29108" t="-513" r="30075"/>
          <a:stretch>
            <a:fillRect/>
          </a:stretch>
        </p:blipFill>
        <p:spPr>
          <a:xfrm>
            <a:off x="3505200" y="1977390"/>
            <a:ext cx="4343400" cy="4354830"/>
          </a:xfrm>
          <a:prstGeom prst="rect">
            <a:avLst/>
          </a:prstGeom>
        </p:spPr>
      </p:pic>
    </p:spTree>
    <p:extLst>
      <p:ext uri="{BB962C8B-B14F-4D97-AF65-F5344CB8AC3E}">
        <p14:creationId xmlns:p14="http://schemas.microsoft.com/office/powerpoint/2010/main" val="2199927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86E8E-64EA-36E1-1649-2E54F5511C19}"/>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0EFF02FD-2220-293D-3470-504075D419AB}"/>
              </a:ext>
            </a:extLst>
          </p:cNvPr>
          <p:cNvSpPr txBox="1"/>
          <p:nvPr/>
        </p:nvSpPr>
        <p:spPr>
          <a:xfrm>
            <a:off x="832206" y="1066800"/>
            <a:ext cx="10527588" cy="458470"/>
          </a:xfrm>
          <a:prstGeom prst="rect">
            <a:avLst/>
          </a:prstGeom>
        </p:spPr>
        <p:txBody>
          <a:bodyPr vert="horz" wrap="square" lIns="0" tIns="151638" rIns="0" bIns="0" rtlCol="0" anchor="t">
            <a:sp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09220">
              <a:spcBef>
                <a:spcPts val="100"/>
              </a:spcBef>
            </a:pPr>
            <a:r>
              <a:rPr lang="en-IN" sz="2000" b="1" spc="-10" dirty="0">
                <a:latin typeface="Times New Roman" panose="02020603050405020304" pitchFamily="18" charset="0"/>
                <a:cs typeface="Times New Roman" panose="02020603050405020304" pitchFamily="18" charset="0"/>
              </a:rPr>
              <a:t>Login Page</a:t>
            </a:r>
            <a:r>
              <a:rPr lang="en-US" altLang="en-IN" sz="2000" b="1" spc="-10" dirty="0">
                <a:latin typeface="Times New Roman" panose="02020603050405020304" pitchFamily="18" charset="0"/>
                <a:cs typeface="Times New Roman" panose="02020603050405020304" pitchFamily="18" charset="0"/>
              </a:rPr>
              <a:t>:</a:t>
            </a:r>
          </a:p>
        </p:txBody>
      </p:sp>
      <p:pic>
        <p:nvPicPr>
          <p:cNvPr id="6" name="Content Placeholder 3" descr="login page">
            <a:extLst>
              <a:ext uri="{FF2B5EF4-FFF2-40B4-BE49-F238E27FC236}">
                <a16:creationId xmlns:a16="http://schemas.microsoft.com/office/drawing/2014/main" id="{EC66CE39-ADF0-AD95-58D6-A27A02B074B3}"/>
              </a:ext>
            </a:extLst>
          </p:cNvPr>
          <p:cNvPicPr>
            <a:picLocks noGrp="1" noChangeAspect="1"/>
          </p:cNvPicPr>
          <p:nvPr>
            <p:ph idx="1"/>
          </p:nvPr>
        </p:nvPicPr>
        <p:blipFill>
          <a:blip r:embed="rId2"/>
          <a:srcRect l="29566" t="9974" r="29565"/>
          <a:stretch>
            <a:fillRect/>
          </a:stretch>
        </p:blipFill>
        <p:spPr>
          <a:xfrm>
            <a:off x="3429000" y="1706880"/>
            <a:ext cx="4648200" cy="4389120"/>
          </a:xfrm>
          <a:prstGeom prst="rect">
            <a:avLst/>
          </a:prstGeom>
        </p:spPr>
      </p:pic>
    </p:spTree>
    <p:extLst>
      <p:ext uri="{BB962C8B-B14F-4D97-AF65-F5344CB8AC3E}">
        <p14:creationId xmlns:p14="http://schemas.microsoft.com/office/powerpoint/2010/main" val="1597528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8DBFE-21D2-478F-B850-89610BD07602}"/>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6B468314-2AD0-A983-1357-FB597F59143F}"/>
              </a:ext>
            </a:extLst>
          </p:cNvPr>
          <p:cNvSpPr txBox="1"/>
          <p:nvPr/>
        </p:nvSpPr>
        <p:spPr>
          <a:xfrm>
            <a:off x="832206" y="1066800"/>
            <a:ext cx="10527588" cy="458470"/>
          </a:xfrm>
          <a:prstGeom prst="rect">
            <a:avLst/>
          </a:prstGeom>
        </p:spPr>
        <p:txBody>
          <a:bodyPr vert="horz" wrap="square" lIns="0" tIns="151638" rIns="0" bIns="0" rtlCol="0" anchor="t">
            <a:sp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09220">
              <a:spcBef>
                <a:spcPts val="100"/>
              </a:spcBef>
            </a:pPr>
            <a:r>
              <a:rPr lang="en-IN" sz="2000" b="1" spc="-10" dirty="0">
                <a:latin typeface="Times New Roman" panose="02020603050405020304" pitchFamily="18" charset="0"/>
                <a:cs typeface="Times New Roman" panose="02020603050405020304" pitchFamily="18" charset="0"/>
              </a:rPr>
              <a:t>Attendance Page</a:t>
            </a:r>
            <a:r>
              <a:rPr lang="en-US" altLang="en-IN" sz="2000" b="1" spc="-10" dirty="0">
                <a:latin typeface="Times New Roman" panose="02020603050405020304" pitchFamily="18" charset="0"/>
                <a:cs typeface="Times New Roman" panose="02020603050405020304" pitchFamily="18" charset="0"/>
              </a:rPr>
              <a:t>:</a:t>
            </a:r>
          </a:p>
        </p:txBody>
      </p:sp>
      <p:pic>
        <p:nvPicPr>
          <p:cNvPr id="5" name="Content Placeholder 3" descr="attendance page">
            <a:extLst>
              <a:ext uri="{FF2B5EF4-FFF2-40B4-BE49-F238E27FC236}">
                <a16:creationId xmlns:a16="http://schemas.microsoft.com/office/drawing/2014/main" id="{B64C1E29-6848-62A7-6B87-98FCE4DF0500}"/>
              </a:ext>
            </a:extLst>
          </p:cNvPr>
          <p:cNvPicPr>
            <a:picLocks noChangeAspect="1"/>
          </p:cNvPicPr>
          <p:nvPr/>
        </p:nvPicPr>
        <p:blipFill>
          <a:blip r:embed="rId2"/>
          <a:stretch>
            <a:fillRect/>
          </a:stretch>
        </p:blipFill>
        <p:spPr>
          <a:xfrm>
            <a:off x="1981200" y="1659897"/>
            <a:ext cx="8789035" cy="4251325"/>
          </a:xfrm>
          <a:prstGeom prst="rect">
            <a:avLst/>
          </a:prstGeom>
        </p:spPr>
      </p:pic>
    </p:spTree>
    <p:extLst>
      <p:ext uri="{BB962C8B-B14F-4D97-AF65-F5344CB8AC3E}">
        <p14:creationId xmlns:p14="http://schemas.microsoft.com/office/powerpoint/2010/main" val="1693279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498C8-AAE3-5B9E-158F-5D5EDF27D6B8}"/>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00F050A5-E9EB-C173-72A4-FA650597EEC4}"/>
              </a:ext>
            </a:extLst>
          </p:cNvPr>
          <p:cNvSpPr txBox="1"/>
          <p:nvPr/>
        </p:nvSpPr>
        <p:spPr>
          <a:xfrm>
            <a:off x="832206" y="1066800"/>
            <a:ext cx="10527588" cy="458470"/>
          </a:xfrm>
          <a:prstGeom prst="rect">
            <a:avLst/>
          </a:prstGeom>
        </p:spPr>
        <p:txBody>
          <a:bodyPr vert="horz" wrap="square" lIns="0" tIns="151638" rIns="0" bIns="0" rtlCol="0" anchor="t">
            <a:sp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09220">
              <a:spcBef>
                <a:spcPts val="100"/>
              </a:spcBef>
            </a:pPr>
            <a:r>
              <a:rPr lang="en-IN" sz="2000" b="1" spc="-10" dirty="0">
                <a:latin typeface="Times New Roman" panose="02020603050405020304" pitchFamily="18" charset="0"/>
                <a:cs typeface="Times New Roman" panose="02020603050405020304" pitchFamily="18" charset="0"/>
              </a:rPr>
              <a:t>Student Dashboard Page</a:t>
            </a:r>
            <a:r>
              <a:rPr lang="en-US" altLang="en-IN" sz="2000" b="1" spc="-10" dirty="0">
                <a:latin typeface="Times New Roman" panose="02020603050405020304" pitchFamily="18" charset="0"/>
                <a:cs typeface="Times New Roman" panose="02020603050405020304" pitchFamily="18" charset="0"/>
              </a:rPr>
              <a:t>:</a:t>
            </a:r>
          </a:p>
        </p:txBody>
      </p:sp>
      <p:pic>
        <p:nvPicPr>
          <p:cNvPr id="5" name="Content Placeholder 3" descr="student dashboard">
            <a:extLst>
              <a:ext uri="{FF2B5EF4-FFF2-40B4-BE49-F238E27FC236}">
                <a16:creationId xmlns:a16="http://schemas.microsoft.com/office/drawing/2014/main" id="{9FAAA04E-82DD-822B-4666-A7A37ECF951A}"/>
              </a:ext>
            </a:extLst>
          </p:cNvPr>
          <p:cNvPicPr>
            <a:picLocks noChangeAspect="1"/>
          </p:cNvPicPr>
          <p:nvPr/>
        </p:nvPicPr>
        <p:blipFill>
          <a:blip r:embed="rId2"/>
          <a:stretch>
            <a:fillRect/>
          </a:stretch>
        </p:blipFill>
        <p:spPr>
          <a:xfrm>
            <a:off x="1828800" y="1589405"/>
            <a:ext cx="8789035" cy="4201795"/>
          </a:xfrm>
          <a:prstGeom prst="rect">
            <a:avLst/>
          </a:prstGeom>
        </p:spPr>
      </p:pic>
    </p:spTree>
    <p:extLst>
      <p:ext uri="{BB962C8B-B14F-4D97-AF65-F5344CB8AC3E}">
        <p14:creationId xmlns:p14="http://schemas.microsoft.com/office/powerpoint/2010/main" val="3634767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E3FCF-C3E1-FA16-4C24-C9366FE5C01A}"/>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D9D02E9A-E018-25B4-59B1-EFB02D44753C}"/>
              </a:ext>
            </a:extLst>
          </p:cNvPr>
          <p:cNvSpPr txBox="1"/>
          <p:nvPr/>
        </p:nvSpPr>
        <p:spPr>
          <a:xfrm>
            <a:off x="832206" y="1066800"/>
            <a:ext cx="10527588" cy="458470"/>
          </a:xfrm>
          <a:prstGeom prst="rect">
            <a:avLst/>
          </a:prstGeom>
        </p:spPr>
        <p:txBody>
          <a:bodyPr vert="horz" wrap="square" lIns="0" tIns="151638" rIns="0" bIns="0" rtlCol="0" anchor="t">
            <a:sp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09220">
              <a:spcBef>
                <a:spcPts val="100"/>
              </a:spcBef>
            </a:pPr>
            <a:r>
              <a:rPr lang="en-IN" sz="2000" b="1" spc="-10" dirty="0">
                <a:latin typeface="Times New Roman" panose="02020603050405020304" pitchFamily="18" charset="0"/>
                <a:cs typeface="Times New Roman" panose="02020603050405020304" pitchFamily="18" charset="0"/>
              </a:rPr>
              <a:t>Face Capturing &amp; Model Training Page</a:t>
            </a:r>
            <a:r>
              <a:rPr lang="en-US" altLang="en-IN" sz="2000" b="1" spc="-10" dirty="0">
                <a:latin typeface="Times New Roman" panose="02020603050405020304" pitchFamily="18" charset="0"/>
                <a:cs typeface="Times New Roman" panose="02020603050405020304" pitchFamily="18" charset="0"/>
              </a:rPr>
              <a:t>:</a:t>
            </a:r>
          </a:p>
        </p:txBody>
      </p:sp>
      <p:pic>
        <p:nvPicPr>
          <p:cNvPr id="3" name="Content Placeholder 3" descr="face registering &amp; model training page">
            <a:extLst>
              <a:ext uri="{FF2B5EF4-FFF2-40B4-BE49-F238E27FC236}">
                <a16:creationId xmlns:a16="http://schemas.microsoft.com/office/drawing/2014/main" id="{B8BB384D-B444-73EA-D720-C9FD77DCA281}"/>
              </a:ext>
            </a:extLst>
          </p:cNvPr>
          <p:cNvPicPr>
            <a:picLocks noGrp="1" noChangeAspect="1"/>
          </p:cNvPicPr>
          <p:nvPr>
            <p:ph idx="1"/>
          </p:nvPr>
        </p:nvPicPr>
        <p:blipFill>
          <a:blip r:embed="rId2"/>
          <a:stretch>
            <a:fillRect/>
          </a:stretch>
        </p:blipFill>
        <p:spPr>
          <a:xfrm>
            <a:off x="1905000" y="1600200"/>
            <a:ext cx="8789035" cy="4251325"/>
          </a:xfrm>
          <a:prstGeom prst="rect">
            <a:avLst/>
          </a:prstGeom>
        </p:spPr>
      </p:pic>
    </p:spTree>
    <p:extLst>
      <p:ext uri="{BB962C8B-B14F-4D97-AF65-F5344CB8AC3E}">
        <p14:creationId xmlns:p14="http://schemas.microsoft.com/office/powerpoint/2010/main" val="4086141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2F875-8731-5C73-7222-D9995085277B}"/>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5D7909DB-C60B-96B7-5B48-5A06F3CA0D09}"/>
              </a:ext>
            </a:extLst>
          </p:cNvPr>
          <p:cNvSpPr/>
          <p:nvPr/>
        </p:nvSpPr>
        <p:spPr>
          <a:xfrm>
            <a:off x="67691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a:extLst>
              <a:ext uri="{FF2B5EF4-FFF2-40B4-BE49-F238E27FC236}">
                <a16:creationId xmlns:a16="http://schemas.microsoft.com/office/drawing/2014/main" id="{F997B58C-6E5E-3BB5-B7DF-B57FB5320BAB}"/>
              </a:ext>
            </a:extLst>
          </p:cNvPr>
          <p:cNvSpPr txBox="1">
            <a:spLocks noGrp="1"/>
          </p:cNvSpPr>
          <p:nvPr>
            <p:ph type="title"/>
          </p:nvPr>
        </p:nvSpPr>
        <p:spPr>
          <a:xfrm>
            <a:off x="596342" y="1077749"/>
            <a:ext cx="10527588" cy="522451"/>
          </a:xfrm>
          <a:prstGeom prst="rect">
            <a:avLst/>
          </a:prstGeom>
        </p:spPr>
        <p:txBody>
          <a:bodyPr vert="horz" wrap="square" lIns="0" tIns="151638" rIns="0" bIns="0" rtlCol="0">
            <a:spAutoFit/>
          </a:bodyPr>
          <a:lstStyle/>
          <a:p>
            <a:pPr marL="109220">
              <a:lnSpc>
                <a:spcPct val="100000"/>
              </a:lnSpc>
              <a:spcBef>
                <a:spcPts val="100"/>
              </a:spcBef>
            </a:pPr>
            <a:r>
              <a:rPr lang="en-IN" sz="2400" spc="-10" dirty="0">
                <a:latin typeface="Times New Roman" panose="02020603050405020304" pitchFamily="18" charset="0"/>
                <a:cs typeface="Times New Roman" panose="02020603050405020304" pitchFamily="18" charset="0"/>
              </a:rPr>
              <a:t>CONCLUSION</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9" name="object 4">
            <a:extLst>
              <a:ext uri="{FF2B5EF4-FFF2-40B4-BE49-F238E27FC236}">
                <a16:creationId xmlns:a16="http://schemas.microsoft.com/office/drawing/2014/main" id="{91FD217C-4A5A-ECAB-81B8-FCF7E8FDA25E}"/>
              </a:ext>
            </a:extLst>
          </p:cNvPr>
          <p:cNvSpPr txBox="1"/>
          <p:nvPr/>
        </p:nvSpPr>
        <p:spPr>
          <a:xfrm>
            <a:off x="802996" y="1599062"/>
            <a:ext cx="10627004" cy="2923236"/>
          </a:xfrm>
          <a:prstGeom prst="rect">
            <a:avLst/>
          </a:prstGeom>
        </p:spPr>
        <p:txBody>
          <a:bodyPr vert="horz" wrap="square" lIns="0" tIns="12700" rIns="0" bIns="0"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AI-Powered Automated Attendance System represents a definitive technological leap in modern campus infrastructure, successfully eliminating the inefficiencies of manual roll calls through a continuous, high-precision deep learning pipeline. By seamlessly synchronizing a strict physical timetable with an automated SMS notification architecture, the system enforces uncompromised academic tracking and real-time institutional oversight. Advanced hardware anti-spoofing measures and rigorous mathematical confidence protocols work in tandem to completely eradicate traditional proxy attendance, structurally securing a pristine, immutable ledger of student activity. Ultimately, this highly robust and scalable architecture proves that an intelligent, frictionless computer-vision solution can be flawlessly deployed in live academic environments—drastically reducing administrative overhead while establishing a new gold standard for absolute accountability and operational excellence.</a:t>
            </a:r>
          </a:p>
        </p:txBody>
      </p:sp>
    </p:spTree>
    <p:extLst>
      <p:ext uri="{BB962C8B-B14F-4D97-AF65-F5344CB8AC3E}">
        <p14:creationId xmlns:p14="http://schemas.microsoft.com/office/powerpoint/2010/main" val="1546863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67691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p:cNvSpPr txBox="1">
            <a:spLocks noGrp="1"/>
          </p:cNvSpPr>
          <p:nvPr>
            <p:ph type="title"/>
          </p:nvPr>
        </p:nvSpPr>
        <p:spPr>
          <a:xfrm>
            <a:off x="596342" y="1077749"/>
            <a:ext cx="10527588" cy="522451"/>
          </a:xfrm>
          <a:prstGeom prst="rect">
            <a:avLst/>
          </a:prstGeom>
        </p:spPr>
        <p:txBody>
          <a:bodyPr vert="horz" wrap="square" lIns="0" tIns="151638" rIns="0" bIns="0" rtlCol="0">
            <a:spAutoFit/>
          </a:bodyPr>
          <a:lstStyle/>
          <a:p>
            <a:pPr marL="109220">
              <a:lnSpc>
                <a:spcPct val="100000"/>
              </a:lnSpc>
              <a:spcBef>
                <a:spcPts val="100"/>
              </a:spcBef>
            </a:pPr>
            <a:r>
              <a:rPr lang="en-IN" sz="2400" spc="-10" dirty="0">
                <a:latin typeface="Times New Roman" panose="02020603050405020304" pitchFamily="18" charset="0"/>
                <a:cs typeface="Times New Roman" panose="02020603050405020304" pitchFamily="18" charset="0"/>
              </a:rPr>
              <a:t>REFERNCES</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9" name="object 4"/>
          <p:cNvSpPr txBox="1"/>
          <p:nvPr/>
        </p:nvSpPr>
        <p:spPr>
          <a:xfrm>
            <a:off x="838200" y="1599062"/>
            <a:ext cx="10524490" cy="2884379"/>
          </a:xfrm>
          <a:prstGeom prst="rect">
            <a:avLst/>
          </a:prstGeom>
        </p:spPr>
        <p:txBody>
          <a:bodyPr vert="horz" wrap="square" lIns="0" tIns="12700" rIns="0" bIns="0"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[1] A. Kumar and J. S. Prasad, “Automated Student Attendance System Using Facial Recognition and Deep Learning,” </a:t>
            </a:r>
            <a:r>
              <a:rPr lang="en-IN" i="1" dirty="0">
                <a:latin typeface="Times New Roman" panose="02020603050405020304" pitchFamily="18" charset="0"/>
                <a:cs typeface="Times New Roman" panose="02020603050405020304" pitchFamily="18" charset="0"/>
              </a:rPr>
              <a:t>International Journal of Computer Applications</a:t>
            </a:r>
            <a:r>
              <a:rPr lang="en-IN" dirty="0">
                <a:latin typeface="Times New Roman" panose="02020603050405020304" pitchFamily="18" charset="0"/>
                <a:cs typeface="Times New Roman" panose="02020603050405020304" pitchFamily="18" charset="0"/>
              </a:rPr>
              <a:t>, vol. 182, no. 15, pp. 21–27, Oct. 2021.</a:t>
            </a:r>
          </a:p>
          <a:p>
            <a:pPr algn="just">
              <a:lnSpc>
                <a:spcPct val="150000"/>
              </a:lnSpc>
            </a:pPr>
            <a:r>
              <a:rPr lang="en-IN" dirty="0">
                <a:latin typeface="Times New Roman" panose="02020603050405020304" pitchFamily="18" charset="0"/>
                <a:cs typeface="Times New Roman" panose="02020603050405020304" pitchFamily="18" charset="0"/>
              </a:rPr>
              <a:t>[2] R. Sharma and P. Gupta, “Real-Time Face Detection and Attendance Management System Using OpenCV,” </a:t>
            </a:r>
            <a:r>
              <a:rPr lang="en-IN" i="1" dirty="0">
                <a:latin typeface="Times New Roman" panose="02020603050405020304" pitchFamily="18" charset="0"/>
                <a:cs typeface="Times New Roman" panose="02020603050405020304" pitchFamily="18" charset="0"/>
              </a:rPr>
              <a:t>International Journal of Recent Technology and Engineering</a:t>
            </a:r>
            <a:r>
              <a:rPr lang="en-IN" dirty="0">
                <a:latin typeface="Times New Roman" panose="02020603050405020304" pitchFamily="18" charset="0"/>
                <a:cs typeface="Times New Roman" panose="02020603050405020304" pitchFamily="18" charset="0"/>
              </a:rPr>
              <a:t>, vol. 9, no. 2, pp. 1150–1155, Jul. 2022.</a:t>
            </a:r>
          </a:p>
          <a:p>
            <a:pPr algn="just">
              <a:lnSpc>
                <a:spcPct val="150000"/>
              </a:lnSpc>
            </a:pPr>
            <a:r>
              <a:rPr lang="en-IN" dirty="0">
                <a:latin typeface="Times New Roman" panose="02020603050405020304" pitchFamily="18" charset="0"/>
                <a:cs typeface="Times New Roman" panose="02020603050405020304" pitchFamily="18" charset="0"/>
              </a:rPr>
              <a:t>[3] M. T. Hossain, M. R. Karim, and S. Ahmed, “An Intelligent Attendance System Using Convolutional Neural Networks,” in </a:t>
            </a:r>
            <a:r>
              <a:rPr lang="en-IN" i="1" dirty="0">
                <a:latin typeface="Times New Roman" panose="02020603050405020304" pitchFamily="18" charset="0"/>
                <a:cs typeface="Times New Roman" panose="02020603050405020304" pitchFamily="18" charset="0"/>
              </a:rPr>
              <a:t>Proc. IEEE Int. Conf. Computer and Information Technology</a:t>
            </a:r>
            <a:r>
              <a:rPr lang="en-IN" dirty="0">
                <a:latin typeface="Times New Roman" panose="02020603050405020304" pitchFamily="18" charset="0"/>
                <a:cs typeface="Times New Roman" panose="02020603050405020304" pitchFamily="18" charset="0"/>
              </a:rPr>
              <a:t>, Dhaka, Bangladesh, 2020, pp. 88–93.</a:t>
            </a:r>
          </a:p>
          <a:p>
            <a:pPr marL="15875" algn="just">
              <a:lnSpc>
                <a:spcPct val="150000"/>
              </a:lnSpc>
              <a:spcBef>
                <a:spcPts val="100"/>
              </a:spcBef>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935985" y="2571699"/>
            <a:ext cx="6293485" cy="1490152"/>
          </a:xfrm>
          <a:prstGeom prst="rect">
            <a:avLst/>
          </a:prstGeom>
          <a:effectLst>
            <a:glow rad="63500">
              <a:schemeClr val="accent1">
                <a:satMod val="175000"/>
                <a:alpha val="40000"/>
              </a:schemeClr>
            </a:glow>
          </a:effectLst>
        </p:spPr>
        <p:txBody>
          <a:bodyPr vert="horz" wrap="square" lIns="0" tIns="12700" rIns="0" bIns="0" rtlCol="0" anchor="ctr">
            <a:spAutoFit/>
          </a:bodyPr>
          <a:lstStyle/>
          <a:p>
            <a:pPr marL="12700">
              <a:lnSpc>
                <a:spcPct val="100000"/>
              </a:lnSpc>
              <a:spcBef>
                <a:spcPts val="100"/>
              </a:spcBef>
            </a:pPr>
            <a:r>
              <a:rPr lang="en-IN" sz="9600" spc="-395" dirty="0">
                <a:solidFill>
                  <a:srgbClr val="000000"/>
                </a:solidFill>
                <a:latin typeface="Algerian" panose="04020705040A02060702" pitchFamily="82" charset="0"/>
              </a:rPr>
              <a:t>THANK YOU</a:t>
            </a:r>
            <a:endParaRPr sz="9600" dirty="0">
              <a:latin typeface="Algerian" panose="04020705040A02060702" pitchFamily="82" charset="0"/>
            </a:endParaRPr>
          </a:p>
        </p:txBody>
      </p:sp>
    </p:spTree>
  </p:cSld>
  <p:clrMapOvr>
    <a:masterClrMapping/>
  </p:clrMapOvr>
</p:sld>
</file>

<file path=ppt/theme/theme1.xml><?xml version="1.0" encoding="utf-8"?>
<a:theme xmlns:a="http://schemas.openxmlformats.org/drawingml/2006/main" name="Theme1">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14</TotalTime>
  <Words>1485</Words>
  <Application>Microsoft Office PowerPoint</Application>
  <PresentationFormat>Widescreen</PresentationFormat>
  <Paragraphs>129</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Algerian</vt:lpstr>
      <vt:lpstr>Arial</vt:lpstr>
      <vt:lpstr>Book Antiqua</vt:lpstr>
      <vt:lpstr>Century Gothic</vt:lpstr>
      <vt:lpstr>Times New Roman</vt:lpstr>
      <vt:lpstr>Verdana</vt:lpstr>
      <vt:lpstr>Wingdings</vt:lpstr>
      <vt:lpstr>Wingdings 3</vt:lpstr>
      <vt:lpstr>Theme1</vt:lpstr>
      <vt:lpstr>PowerPoint Presentation</vt:lpstr>
      <vt:lpstr>PowerPoint Presentation</vt:lpstr>
      <vt:lpstr>CONTENTS:</vt:lpstr>
      <vt:lpstr>ABSTRACT:</vt:lpstr>
      <vt:lpstr>INTRODUCTION:</vt:lpstr>
      <vt:lpstr>EXISTING SYSTEM:</vt:lpstr>
      <vt:lpstr>PROPOSED SYSTEM:</vt:lpstr>
      <vt:lpstr>SYSTEM SPECIFICATIONS:</vt:lpstr>
      <vt:lpstr>SYSTEM ARCHITECTURE:</vt:lpstr>
      <vt:lpstr>MODULES:</vt:lpstr>
      <vt:lpstr>UML DIAGRAMS:</vt:lpstr>
      <vt:lpstr>PowerPoint Presentation</vt:lpstr>
      <vt:lpstr>PowerPoint Presentation</vt:lpstr>
      <vt:lpstr>PowerPoint Presentation</vt:lpstr>
      <vt:lpstr>OUTPUT SCREENS:</vt:lpstr>
      <vt:lpstr>PowerPoint Presentation</vt:lpstr>
      <vt:lpstr>PowerPoint Presentation</vt:lpstr>
      <vt:lpstr>PowerPoint Presentation</vt:lpstr>
      <vt:lpstr>PowerPoint Presentation</vt:lpstr>
      <vt:lpstr>CONCLUSION:</vt:lpstr>
      <vt:lpstr>REFERNCES: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llahari043@gmail.com</dc:creator>
  <cp:lastModifiedBy>Nithish Kumar</cp:lastModifiedBy>
  <cp:revision>16</cp:revision>
  <dcterms:created xsi:type="dcterms:W3CDTF">2024-11-12T08:23:00Z</dcterms:created>
  <dcterms:modified xsi:type="dcterms:W3CDTF">2026-03-31T01:23:24Z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2023-12-23T16:30:00Z</vt:filetime>
  </property>
  <property fmtid="{D5CDD505-2E9C-101B-9397-08002B2CF9AE}" pid="3" name="Creator">
    <vt:lpwstr>Microsoft® PowerPoint® for Microsoft 365</vt:lpwstr>
  </property>
  <property fmtid="{D5CDD505-2E9C-101B-9397-08002B2CF9AE}" pid="4" name="LastSaved">
    <vt:filetime>2024-11-12T16:30:00Z</vt:filetime>
  </property>
  <property fmtid="{D5CDD505-2E9C-101B-9397-08002B2CF9AE}" pid="5" name="Producer">
    <vt:lpwstr>Microsoft® PowerPoint® for Microsoft 365</vt:lpwstr>
  </property>
  <property fmtid="{D5CDD505-2E9C-101B-9397-08002B2CF9AE}" pid="6" name="ICV">
    <vt:lpwstr>13B0CED1C7A5462CBFCA30D140B8F095_13</vt:lpwstr>
  </property>
  <property fmtid="{D5CDD505-2E9C-101B-9397-08002B2CF9AE}" pid="7" name="KSOProductBuildVer">
    <vt:lpwstr>1033-12.2.0.23196</vt:lpwstr>
  </property>
</Properties>
</file>